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FOUNDER FIELD GUIDE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1554480"/>
            <a:ext cx="6858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0" b="1" spc="-4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Modern</a:t>
            </a:r>
            <a:endParaRPr lang="en-US" sz="1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1000" b="1" spc="-4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Startup</a:t>
            </a:r>
            <a:endParaRPr lang="en-US" sz="1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1000" b="1" spc="-4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Funding.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640080" y="52120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dilution to the SAFE — how convertible securities rewrote the rules of early-stage fundraising.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640080"/>
            <a:ext cx="4069080" cy="5577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355080"/>
            <a:ext cx="73152" cy="73152"/>
          </a:xfrm>
          <a:prstGeom prst="ellipse">
            <a:avLst/>
          </a:prstGeom>
          <a:solidFill>
            <a:srgbClr val="C57556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6355080"/>
            <a:ext cx="73152" cy="73152"/>
          </a:xfrm>
          <a:prstGeom prst="ellipse">
            <a:avLst/>
          </a:prstGeom>
          <a:solidFill>
            <a:srgbClr val="8AA084"/>
          </a:solidFill>
          <a:ln/>
        </p:spPr>
      </p:sp>
      <p:sp>
        <p:nvSpPr>
          <p:cNvPr id="8" name="Shape 5"/>
          <p:cNvSpPr/>
          <p:nvPr/>
        </p:nvSpPr>
        <p:spPr>
          <a:xfrm>
            <a:off x="1097280" y="6355080"/>
            <a:ext cx="73152" cy="73152"/>
          </a:xfrm>
          <a:prstGeom prst="ellipse">
            <a:avLst/>
          </a:prstGeom>
          <a:solidFill>
            <a:srgbClr val="9A92BD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63276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I — IV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365760" y="-1371600"/>
            <a:ext cx="8229600" cy="822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0" b="1" dirty="0">
                <a:solidFill>
                  <a:srgbClr val="E8D5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54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Background &amp;</a:t>
            </a:r>
            <a:endParaRPr lang="en-US" sz="7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2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Traditional Financing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1097280" cy="10973"/>
          </a:xfrm>
          <a:prstGeom prst="rect">
            <a:avLst/>
          </a:prstGeom>
          <a:solidFill>
            <a:srgbClr val="C57556"/>
          </a:solidFill>
          <a:ln w="12700">
            <a:solidFill>
              <a:srgbClr val="C575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3035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corporate-law closing volumes used to live — and why founders left them behind.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01  · 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SHIFT IN PRACTICE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6858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4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evolution</a:t>
            </a:r>
            <a:endParaRPr lang="en-US" sz="6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4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startup</a:t>
            </a:r>
            <a:endParaRPr lang="en-US" sz="6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4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financing.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4846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fundamental nature of early-stage fundraising has completely shifted over the past two decades.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5303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Thick, leather-bound "Closing Volumes" represent an old, bygone era of corporate law.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760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5760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online documents and standardized structures are the new operating reality.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1097280"/>
            <a:ext cx="3931920" cy="5120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63840" y="6263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Fig. 01 — The artifacts of the old way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01  ·  STARTUP FINANCING BASICS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Forming the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corporate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foundation.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457200" y="4937760"/>
            <a:ext cx="1463040" cy="1463040"/>
          </a:xfrm>
          <a:prstGeom prst="ellipse">
            <a:avLst/>
          </a:prstGeom>
          <a:solidFill>
            <a:srgbClr val="F1CDB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12064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</a:t>
            </a:r>
            <a:endParaRPr lang="en-US" sz="3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5532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Bootstrap → Common stock → Outside capital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0" y="1097280"/>
            <a:ext cx="4297680" cy="1600200"/>
          </a:xfrm>
          <a:prstGeom prst="roundRect">
            <a:avLst>
              <a:gd name="adj" fmla="val 10286"/>
            </a:avLst>
          </a:prstGeom>
          <a:solidFill>
            <a:srgbClr val="C7D2BD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INCORPORATE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0" y="16459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the idea, form a corporation to protect founders from personal liability.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0" y="2880360"/>
            <a:ext cx="4297680" cy="1600200"/>
          </a:xfrm>
          <a:prstGeom prst="roundRect">
            <a:avLst>
              <a:gd name="adj" fmla="val 10286"/>
            </a:avLst>
          </a:prstGeom>
          <a:solidFill>
            <a:srgbClr val="D6D0E5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3063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COMMON STOCK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80960" y="34290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Founders purchase common stock at a fraction of a penny to fix initial ownership.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0" y="4663440"/>
            <a:ext cx="4297680" cy="1600200"/>
          </a:xfrm>
          <a:prstGeom prst="roundRect">
            <a:avLst>
              <a:gd name="adj" fmla="val 10286"/>
            </a:avLst>
          </a:prstGeom>
          <a:solidFill>
            <a:srgbClr val="F2E2B6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4846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RUNWAY ENDS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80960" y="52120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Bootstrapping carries the company briefly — then capital is required to hire and scale.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01  ·  THE NEED FOR PREFERRED STOCK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spc="-300" kern="0" dirty="0">
                <a:solidFill>
                  <a:srgbClr val="9A918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COMMON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663440" cy="54864"/>
          </a:xfrm>
          <a:prstGeom prst="rect">
            <a:avLst/>
          </a:prstGeom>
          <a:solidFill>
            <a:srgbClr val="C5755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774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spc="-4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PREFERRED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50292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stock professional investors actually buy.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846320"/>
            <a:ext cx="36576" cy="1188720"/>
          </a:xfrm>
          <a:prstGeom prst="rect">
            <a:avLst/>
          </a:prstGeom>
          <a:solidFill>
            <a:srgbClr val="C5755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846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Startups cannot raise meaningful capital by selling common stock to outside investors.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4846320"/>
            <a:ext cx="36576" cy="1188720"/>
          </a:xfrm>
          <a:prstGeom prst="rect">
            <a:avLst/>
          </a:prstGeom>
          <a:solidFill>
            <a:srgbClr val="C57556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4846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5257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Investors require a completely separate class — preferred stock, priced higher.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4846320"/>
            <a:ext cx="36576" cy="1188720"/>
          </a:xfrm>
          <a:prstGeom prst="rect">
            <a:avLst/>
          </a:prstGeom>
          <a:solidFill>
            <a:srgbClr val="C57556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4846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5257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Preferred is more expensive, with specific protective provisions for the investor.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01  ·  KEY CONCEPTS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twin pillars.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ideas that govern every line in a term sheet.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5577840" cy="3840480"/>
          </a:xfrm>
          <a:prstGeom prst="roundRect">
            <a:avLst>
              <a:gd name="adj" fmla="val 4762"/>
            </a:avLst>
          </a:prstGeom>
          <a:solidFill>
            <a:srgbClr val="C7D2B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Valuation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calculated, agreed-upon total value of the enterprise at the time of fundraising.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5852160"/>
            <a:ext cx="1828800" cy="10973"/>
          </a:xfrm>
          <a:prstGeom prst="rect">
            <a:avLst/>
          </a:prstGeom>
          <a:solidFill>
            <a:srgbClr val="252220"/>
          </a:solidFill>
          <a:ln w="12700">
            <a:solidFill>
              <a:srgbClr val="2522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468880"/>
            <a:ext cx="5577840" cy="3840480"/>
          </a:xfrm>
          <a:prstGeom prst="roundRect">
            <a:avLst>
              <a:gd name="adj" fmla="val 4762"/>
            </a:avLst>
          </a:prstGeom>
          <a:solidFill>
            <a:srgbClr val="D6D0E5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3063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Dilution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492240" y="41148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founders’ ownership percentage decreases after accepting new outside capital — a smaller slice of a bigger pie.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01  ·  THE TRADITIONAL PROCESS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Mechanics of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priced round.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Series A sells preferred stock at a specific calculated price per share.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11247120" cy="1371600"/>
          </a:xfrm>
          <a:prstGeom prst="roundRect">
            <a:avLst>
              <a:gd name="adj" fmla="val 10000"/>
            </a:avLst>
          </a:prstGeom>
          <a:solidFill>
            <a:srgbClr val="F2E2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Enterprise Valuation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931920" y="38404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5755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÷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Outstanding Shares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38404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Σ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863840" y="38404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5755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=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50392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 per Share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03920" y="3840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PPS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57200" y="5029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53492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Angel consortiums pooled to write one collective check of $1.5M–$2M.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5029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AA0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53492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Angels and individuals write smaller, independent checks instead of forming consortiums.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5029200"/>
            <a:ext cx="10973" cy="1371600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01  ·  THE FRICTION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burden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the old way.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370332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1CD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154680"/>
            <a:ext cx="731520" cy="45720"/>
          </a:xfrm>
          <a:prstGeom prst="rect">
            <a:avLst/>
          </a:prstGeom>
          <a:solidFill>
            <a:srgbClr val="F1CDB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spent closing a single round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349240"/>
            <a:ext cx="548640" cy="10973"/>
          </a:xfrm>
          <a:prstGeom prst="rect">
            <a:avLst/>
          </a:prstGeom>
          <a:solidFill>
            <a:srgbClr val="F1CDB7"/>
          </a:solidFill>
          <a:ln w="12700">
            <a:solidFill>
              <a:srgbClr val="F1CD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486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Founders pulled away from product.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61688" y="2926080"/>
            <a:ext cx="370332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5B0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3154680"/>
            <a:ext cx="731520" cy="45720"/>
          </a:xfrm>
          <a:prstGeom prst="rect">
            <a:avLst/>
          </a:prstGeom>
          <a:solidFill>
            <a:srgbClr val="E5B0A6"/>
          </a:solidFill>
          <a:ln/>
        </p:spPr>
      </p:sp>
      <p:sp>
        <p:nvSpPr>
          <p:cNvPr id="14" name="Text 12"/>
          <p:cNvSpPr/>
          <p:nvPr/>
        </p:nvSpPr>
        <p:spPr>
          <a:xfrm>
            <a:off x="4636008" y="33832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$25–100K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636008" y="4754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legal fees per round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36008" y="5349240"/>
            <a:ext cx="548640" cy="10973"/>
          </a:xfrm>
          <a:prstGeom prst="rect">
            <a:avLst/>
          </a:prstGeom>
          <a:solidFill>
            <a:srgbClr val="E5B0A6"/>
          </a:solidFill>
          <a:ln w="12700">
            <a:solidFill>
              <a:srgbClr val="E5B0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5486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Drained directly from runway.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66176" y="2926080"/>
            <a:ext cx="370332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0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0496" y="3154680"/>
            <a:ext cx="731520" cy="45720"/>
          </a:xfrm>
          <a:prstGeom prst="rect">
            <a:avLst/>
          </a:prstGeom>
          <a:solidFill>
            <a:srgbClr val="D6D0E5"/>
          </a:solidFill>
          <a:ln/>
        </p:spPr>
      </p:sp>
      <p:sp>
        <p:nvSpPr>
          <p:cNvPr id="20" name="Text 18"/>
          <p:cNvSpPr/>
          <p:nvPr/>
        </p:nvSpPr>
        <p:spPr>
          <a:xfrm>
            <a:off x="8540496" y="33832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4+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540496" y="4754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negotiation tracks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40496" y="5349240"/>
            <a:ext cx="548640" cy="10973"/>
          </a:xfrm>
          <a:prstGeom prst="rect">
            <a:avLst/>
          </a:prstGeom>
          <a:solidFill>
            <a:srgbClr val="D6D0E5"/>
          </a:solidFill>
          <a:ln w="12700">
            <a:solidFill>
              <a:srgbClr val="D6D0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0496" y="5486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Voting, liquidation, pro-rata, control.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365760" y="-1371600"/>
            <a:ext cx="8229600" cy="822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0" b="1" dirty="0">
                <a:solidFill>
                  <a:srgbClr val="E8D5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54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A0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Convertible Notes</a:t>
            </a:r>
            <a:endParaRPr lang="en-US" sz="7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2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&amp; the Birth of the SAFE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1097280" cy="10973"/>
          </a:xfrm>
          <a:prstGeom prst="rect">
            <a:avLst/>
          </a:prstGeom>
          <a:solidFill>
            <a:srgbClr val="8AA084"/>
          </a:solidFill>
          <a:ln w="12700">
            <a:solidFill>
              <a:srgbClr val="8AA0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3035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legal stack collapsed into a single document.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  ·  ORIGIN OF CONVERTIBLES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005840"/>
            <a:ext cx="5669280" cy="5852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BIRTH OF THE BRIDGE LOAN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126480" y="169164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stop-gap that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outgrew its purpose.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6217920" y="3794760"/>
            <a:ext cx="137160" cy="18288"/>
          </a:xfrm>
          <a:prstGeom prst="rect">
            <a:avLst/>
          </a:prstGeom>
          <a:solidFill>
            <a:srgbClr val="C57556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365760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Priced-round inflexibility risked startups running out of money between events.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4663440"/>
            <a:ext cx="137160" cy="18288"/>
          </a:xfrm>
          <a:prstGeom prst="rect">
            <a:avLst/>
          </a:prstGeom>
          <a:solidFill>
            <a:srgbClr val="C57556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452628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bridge loan emerged as a temporary stopgap to cross the financial gap.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5532120"/>
            <a:ext cx="137160" cy="18288"/>
          </a:xfrm>
          <a:prstGeom prst="rect">
            <a:avLst/>
          </a:prstGeom>
          <a:solidFill>
            <a:srgbClr val="C57556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53949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instruments: a note purchase agreement and a convertible promissory note.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  ·  CONVERTIBLE DEBT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Mechanics of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convertible debt.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3703320" cy="54864"/>
          </a:xfrm>
          <a:prstGeom prst="rect">
            <a:avLst/>
          </a:prstGeom>
          <a:solidFill>
            <a:srgbClr val="F1CDB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91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It’s actually debt.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50292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loan — carries an accruing interest rate and a specific maturity date.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3108960"/>
            <a:ext cx="3703320" cy="54864"/>
          </a:xfrm>
          <a:prstGeom prst="rect">
            <a:avLst/>
          </a:prstGeom>
          <a:solidFill>
            <a:srgbClr val="C7D2BD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3291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1688" y="37033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converts, doesn’t repay.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61688" y="50292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cash, the debt converts to preferred stock at the next priced round.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66176" y="3108960"/>
            <a:ext cx="3703320" cy="54864"/>
          </a:xfrm>
          <a:prstGeom prst="rect">
            <a:avLst/>
          </a:prstGeom>
          <a:solidFill>
            <a:srgbClr val="D6D0E5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3291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66176" y="37033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outgrew "the bridge."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66176" y="50292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Founders started using the note as a standalone first fundraising document.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0" y="58521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D0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  ·  ADVANTAGES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spc="-800" kern="0" dirty="0">
                <a:solidFill>
                  <a:srgbClr val="8AA0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2560320" y="10972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Flexibility,</a:t>
            </a:r>
            <a:endParaRPr lang="en-US" sz="5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6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finally.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60604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convertible notes unlocked for early-stage rounds.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rgbClr val="C7D2B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DOCUMENT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3749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massive preferred-stock stack streamlined down to a single document.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663440"/>
            <a:ext cx="457200" cy="457200"/>
          </a:xfrm>
          <a:prstGeom prst="ellipse">
            <a:avLst/>
          </a:prstGeom>
          <a:solidFill>
            <a:srgbClr val="C7D2B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61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SMALL CHECKS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4617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$50K–$100K from individual angels — no consortium required.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532120"/>
            <a:ext cx="457200" cy="457200"/>
          </a:xfrm>
          <a:prstGeom prst="ellipse">
            <a:avLst/>
          </a:prstGeom>
          <a:solidFill>
            <a:srgbClr val="C7D2B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FASTER CAPITAL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5486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legal expense, materially faster from term sheet to bank account.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  ·  THE FLAW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4864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0" b="1" dirty="0">
                <a:solidFill>
                  <a:srgbClr val="F0DC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</a:t>
            </a:r>
            <a:endParaRPr lang="en-US" sz="360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Debt was the wrong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framework for an equity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partnership.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1188720" y="4937760"/>
            <a:ext cx="731520" cy="10973"/>
          </a:xfrm>
          <a:prstGeom prst="rect">
            <a:avLst/>
          </a:prstGeom>
          <a:solidFill>
            <a:srgbClr val="C57556"/>
          </a:solidFill>
          <a:ln w="12700">
            <a:solidFill>
              <a:srgbClr val="C575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5074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reasons the mismatch needed fixing.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5623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Debt baggage.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5989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Convertible notes still accrued interest and carried maturity-date pressure.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0" y="5623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Wrong counterparty.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5989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angels are not commercial lenders; startups are not standard borrowers.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0" y="5623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Wrong shape.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5989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a debt framework to form a long-term equity partnership was structurally wrong.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  ·  THE MODERN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005840"/>
            <a:ext cx="5029200" cy="5852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YC, 2013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40680" y="15544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spc="-6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SAFE</a:t>
            </a:r>
            <a:endParaRPr lang="en-US" sz="16000" dirty="0"/>
          </a:p>
        </p:txBody>
      </p:sp>
      <p:sp>
        <p:nvSpPr>
          <p:cNvPr id="8" name="Text 5"/>
          <p:cNvSpPr/>
          <p:nvPr/>
        </p:nvSpPr>
        <p:spPr>
          <a:xfrm>
            <a:off x="54864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Agreement for Future Equity.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0" y="4114800"/>
            <a:ext cx="914400" cy="10973"/>
          </a:xfrm>
          <a:prstGeom prst="rect">
            <a:avLst/>
          </a:prstGeom>
          <a:solidFill>
            <a:srgbClr val="C57556"/>
          </a:solidFill>
          <a:ln w="12700">
            <a:solidFill>
              <a:srgbClr val="C5755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0" y="4434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755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0" y="44348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by Y Combinator to keep the convenience of convertibles while removing all debt.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0" y="5120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755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43600" y="51206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right to receive stock in the future when the company raises a priced round.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0" y="5806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755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943600" y="58064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concise ~5-page document with public user guide and math examples — usable without lawyers.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  ·  CORE DISTINCTIONS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the SAFE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restructures the game.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5669280" cy="1600200"/>
          </a:xfrm>
          <a:prstGeom prst="roundRect">
            <a:avLst>
              <a:gd name="adj" fmla="val 10286"/>
            </a:avLst>
          </a:prstGeom>
          <a:solidFill>
            <a:srgbClr val="F1CDB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Interest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accruing interest rate over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926080"/>
            <a:ext cx="5669280" cy="1600200"/>
          </a:xfrm>
          <a:prstGeom prst="roundRect">
            <a:avLst>
              <a:gd name="adj" fmla="val 10286"/>
            </a:avLst>
          </a:prstGeom>
          <a:solidFill>
            <a:srgbClr val="C7D2B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3108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3474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Maturity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0" y="39319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maturity date. No existential risk of forced repayment.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5669280" cy="1600200"/>
          </a:xfrm>
          <a:prstGeom prst="roundRect">
            <a:avLst>
              <a:gd name="adj" fmla="val 10286"/>
            </a:avLst>
          </a:prstGeom>
          <a:solidFill>
            <a:srgbClr val="D6D0E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892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5257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 Cap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" y="57150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Valuation cap is often the only term to negotiate.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709160"/>
            <a:ext cx="5669280" cy="1600200"/>
          </a:xfrm>
          <a:prstGeom prst="roundRect">
            <a:avLst>
              <a:gd name="adj" fmla="val 10286"/>
            </a:avLst>
          </a:prstGeom>
          <a:solidFill>
            <a:srgbClr val="F2E2B6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892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5257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 No-Cap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57150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YC also ships a cap-less SAFE — skip valuation negotiation entirely.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365760" y="-1371600"/>
            <a:ext cx="8229600" cy="822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0" b="1" dirty="0">
                <a:solidFill>
                  <a:srgbClr val="E8D5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54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9A92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Benefits of Modern</a:t>
            </a:r>
            <a:endParaRPr lang="en-US" sz="7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2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Financing — &amp; Where</a:t>
            </a:r>
            <a:endParaRPr lang="en-US" sz="7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2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Priced Rounds Fit.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1097280" cy="10973"/>
          </a:xfrm>
          <a:prstGeom prst="rect">
            <a:avLst/>
          </a:prstGeom>
          <a:solidFill>
            <a:srgbClr val="9A92BD"/>
          </a:solidFill>
          <a:ln w="12700">
            <a:solidFill>
              <a:srgbClr val="9A92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3035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got cheaper, documents got faster, founders got their focus back.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03  ·  THE SHIFT IN COSTS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spc="-400" kern="0" dirty="0">
                <a:solidFill>
                  <a:srgbClr val="9A918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$1.5–2M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launch a software startup on day 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3657600" cy="27432"/>
          </a:xfrm>
          <a:prstGeom prst="rect">
            <a:avLst/>
          </a:prstGeom>
          <a:solidFill>
            <a:srgbClr val="C5755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AA0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spc="-4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 less.</a:t>
            </a:r>
            <a:endParaRPr lang="en-US" sz="11000" dirty="0"/>
          </a:p>
        </p:txBody>
      </p:sp>
      <p:sp>
        <p:nvSpPr>
          <p:cNvPr id="11" name="Text 9"/>
          <p:cNvSpPr/>
          <p:nvPr/>
        </p:nvSpPr>
        <p:spPr>
          <a:xfrm>
            <a:off x="457200" y="5715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aligns to short development iterations.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0" y="1097280"/>
            <a:ext cx="4297680" cy="5212080"/>
          </a:xfrm>
          <a:prstGeom prst="roundRect">
            <a:avLst>
              <a:gd name="adj" fmla="val 3830"/>
            </a:avLst>
          </a:prstGeom>
          <a:solidFill>
            <a:srgbClr val="F1CDB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ECONOMICS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16916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Modern software &amp; e-commerce startups no longer need a million-dollar Series Day-One.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0" y="4023360"/>
            <a:ext cx="914400" cy="10973"/>
          </a:xfrm>
          <a:prstGeom prst="rect">
            <a:avLst/>
          </a:prstGeom>
          <a:solidFill>
            <a:srgbClr val="252220"/>
          </a:solidFill>
          <a:ln w="12700">
            <a:solidFill>
              <a:srgbClr val="252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42062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convertibles let the inflow of capital match the actual financial needs of each sprint.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03  ·  ACCESS &amp; STANDARDISATION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Democratising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fundraising documents.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097280" y="4206240"/>
            <a:ext cx="9966960" cy="27432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7" name="Shape 5"/>
          <p:cNvSpPr/>
          <p:nvPr/>
        </p:nvSpPr>
        <p:spPr>
          <a:xfrm>
            <a:off x="1874520" y="4023360"/>
            <a:ext cx="411480" cy="411480"/>
          </a:xfrm>
          <a:prstGeom prst="ellipse">
            <a:avLst/>
          </a:prstGeom>
          <a:solidFill>
            <a:srgbClr val="C5755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 access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 documents live on the internet — no longer gated behind expensive firms.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79008" y="4023360"/>
            <a:ext cx="411480" cy="411480"/>
          </a:xfrm>
          <a:prstGeom prst="ellipse">
            <a:avLst/>
          </a:prstGeom>
          <a:solidFill>
            <a:srgbClr val="C57556"/>
          </a:solidFill>
          <a:ln/>
        </p:spPr>
      </p:sp>
      <p:sp>
        <p:nvSpPr>
          <p:cNvPr id="12" name="Text 10"/>
          <p:cNvSpPr/>
          <p:nvPr/>
        </p:nvSpPr>
        <p:spPr>
          <a:xfrm>
            <a:off x="4361688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61688" y="4754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Electronic close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53128" y="5440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Deals execute rapidly through e-signature platforms.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83496" y="4023360"/>
            <a:ext cx="411480" cy="411480"/>
          </a:xfrm>
          <a:prstGeom prst="ellipse">
            <a:avLst/>
          </a:prstGeom>
          <a:solidFill>
            <a:srgbClr val="C57556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66176" y="4754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Standardised mechanics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57616" y="5440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sides stop rewriting structure — focus on the few real economic terms.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03  ·  THE TRUE OBJECTIVE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1005840"/>
            <a:ext cx="4690872" cy="5852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7315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6400" b="1" spc="-3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founder’s</a:t>
            </a:r>
            <a:endParaRPr lang="en-US" sz="6400" dirty="0"/>
          </a:p>
          <a:p>
            <a:pPr indent="0" marL="0">
              <a:lnSpc>
                <a:spcPct val="93000"/>
              </a:lnSpc>
              <a:buNone/>
            </a:pPr>
            <a:r>
              <a:rPr lang="en-US" sz="6400" b="1" spc="-3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most scarce</a:t>
            </a:r>
            <a:endParaRPr lang="en-US" sz="6400" dirty="0"/>
          </a:p>
          <a:p>
            <a:pPr indent="0" marL="0">
              <a:lnSpc>
                <a:spcPct val="93000"/>
              </a:lnSpc>
              <a:buNone/>
            </a:pPr>
            <a:r>
              <a:rPr lang="en-US" sz="6400" b="1" spc="-3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resource.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457200" y="5029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755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5029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Dragged-out fundraises crush product velocity and market momentum.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5532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755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5532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investors and founders agree: complete it as fast as possible.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035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755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7240" y="6035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Money in the bank means 100% of attention returns to building.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03  ·  STATUS OF PRICED ROUNDS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priced rounds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fit in the modern pipeline.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575304" cy="2103120"/>
          </a:xfrm>
          <a:prstGeom prst="roundRect">
            <a:avLst>
              <a:gd name="adj" fmla="val 6522"/>
            </a:avLst>
          </a:prstGeom>
          <a:solidFill>
            <a:srgbClr val="C7D2B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918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3009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SAFE / Convertible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$50K–$500K · angels &amp; pre-seed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06824" y="3108960"/>
            <a:ext cx="3575304" cy="2103120"/>
          </a:xfrm>
          <a:prstGeom prst="roundRect">
            <a:avLst>
              <a:gd name="adj" fmla="val 6522"/>
            </a:avLst>
          </a:prstGeom>
          <a:solidFill>
            <a:srgbClr val="F1CDB7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32918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81144" y="3611880"/>
            <a:ext cx="33009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SAFE / Seed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81144" y="457200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$1M–$3M · seed funds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3108960"/>
            <a:ext cx="3575304" cy="2103120"/>
          </a:xfrm>
          <a:prstGeom prst="roundRect">
            <a:avLst>
              <a:gd name="adj" fmla="val 6522"/>
            </a:avLst>
          </a:prstGeom>
          <a:solidFill>
            <a:srgbClr val="D6D0E5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32918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39328" y="3611880"/>
            <a:ext cx="33009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Priced Round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39328" y="457200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· institutional VC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274552" y="3291840"/>
            <a:ext cx="228600" cy="228600"/>
          </a:xfrm>
          <a:prstGeom prst="ellipse">
            <a:avLst/>
          </a:prstGeom>
          <a:solidFill>
            <a:srgbClr val="C5755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Priced rounds didn’t disappear — they shifted from being the first event to the second or third.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 are increasingly standardised online; lawyers still review the final paper.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365760" y="-1371600"/>
            <a:ext cx="8229600" cy="822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0" b="1" dirty="0">
                <a:solidFill>
                  <a:srgbClr val="E8D5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54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Risks, Insights</a:t>
            </a:r>
            <a:endParaRPr lang="en-US" sz="7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2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&amp; Conclusion.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1097280" cy="10973"/>
          </a:xfrm>
          <a:prstGeom prst="rect">
            <a:avLst/>
          </a:prstGeom>
          <a:solidFill>
            <a:srgbClr val="C57556"/>
          </a:solidFill>
          <a:ln w="12700">
            <a:solidFill>
              <a:srgbClr val="C575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3035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 of flexibility — and the strategy modern founders should adopt.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04  ·  HIDDEN DILUTION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5303520"/>
          </a:xfrm>
          <a:prstGeom prst="rect">
            <a:avLst/>
          </a:prstGeom>
          <a:solidFill>
            <a:srgbClr val="C5755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OF RECKONING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Managing</a:t>
            </a:r>
            <a:endParaRPr lang="en-US" sz="5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6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cap table.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777240" y="3657600"/>
            <a:ext cx="3520440" cy="2651760"/>
          </a:xfrm>
          <a:prstGeom prst="roundRect">
            <a:avLst>
              <a:gd name="adj" fmla="val 5172"/>
            </a:avLst>
          </a:prstGeom>
          <a:solidFill>
            <a:srgbClr val="F1CDB7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886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⌀ Invisible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51560" y="4572000"/>
            <a:ext cx="548640" cy="10973"/>
          </a:xfrm>
          <a:prstGeom prst="rect">
            <a:avLst/>
          </a:prstGeom>
          <a:solidFill>
            <a:srgbClr val="252220"/>
          </a:solidFill>
          <a:ln w="12700">
            <a:solidFill>
              <a:srgbClr val="252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7548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holders are not yet stockholders — they don’t appear on the active cap table.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3657600"/>
            <a:ext cx="3520440" cy="2651760"/>
          </a:xfrm>
          <a:prstGeom prst="roundRect">
            <a:avLst>
              <a:gd name="adj" fmla="val 5172"/>
            </a:avLst>
          </a:prstGeom>
          <a:solidFill>
            <a:srgbClr val="E5B0A6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886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! Risk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754880" y="4572000"/>
            <a:ext cx="548640" cy="10973"/>
          </a:xfrm>
          <a:prstGeom prst="rect">
            <a:avLst/>
          </a:prstGeom>
          <a:solidFill>
            <a:srgbClr val="252220"/>
          </a:solidFill>
          <a:ln w="12700">
            <a:solidFill>
              <a:srgbClr val="252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7548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small SAFEs without tracking → massive unexpected dilution when they all convert at once.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3880" y="3657600"/>
            <a:ext cx="3520440" cy="2651760"/>
          </a:xfrm>
          <a:prstGeom prst="roundRect">
            <a:avLst>
              <a:gd name="adj" fmla="val 5172"/>
            </a:avLst>
          </a:prstGeom>
          <a:solidFill>
            <a:srgbClr val="C7D2BD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3886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Solution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458200" y="4572000"/>
            <a:ext cx="548640" cy="10973"/>
          </a:xfrm>
          <a:prstGeom prst="rect">
            <a:avLst/>
          </a:prstGeom>
          <a:solidFill>
            <a:srgbClr val="252220"/>
          </a:solidFill>
          <a:ln w="12700">
            <a:solidFill>
              <a:srgbClr val="2522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47548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cap-table modeling tools. Run the math early. Track potential future dilution actively.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04  ·  ADMIN &amp;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Party rounds &amp;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spc="-2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small-check trade-off.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5577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PARTY ROUNDS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Many small checks, many signatures.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452628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Raising from dozens of angels later creates a heavy administrative burden when chasing stockholder consents and signatures.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3200400"/>
            <a:ext cx="5577840" cy="3200400"/>
          </a:xfrm>
          <a:prstGeom prst="rect">
            <a:avLst/>
          </a:prstGeom>
          <a:solidFill>
            <a:srgbClr val="D6D0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ATTENTION SPAN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3749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double-edged sword.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452628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Smaller checks → investors aren’t stockholders yet. They may pay less attention to you — but they’re also less likely to drive you insane.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B62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04  ·  Q&amp;A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02975" y="365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75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C5755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Q&amp;A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Navigating market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b="1" spc="-100" kern="0" dirty="0">
                <a:solidFill>
                  <a:srgbClr val="252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exceptions &amp; edge cases.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755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VC offers $5M on day one as a priced round with reasonable terms — what now?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A0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it. Don’t insist on a SAFE.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755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4206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the company never raises a priced round, sells, or goes public?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4754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A0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SAFE doesn’t convert. Investors accept that gamble — an auto-conversion term can be attached if needed.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212080"/>
            <a:ext cx="11277295" cy="10973"/>
          </a:xfrm>
          <a:prstGeom prst="rect">
            <a:avLst/>
          </a:prstGeom>
          <a:solidFill>
            <a:srgbClr val="D9D0C2"/>
          </a:solidFill>
          <a:ln w="12700">
            <a:solidFill>
              <a:srgbClr val="D9D0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755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53035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252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a SAFE compensate consultants or favors?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5852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A0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5852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No. The SAFE is strictly for upfront cash in exchange for future equity.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STARTUP FUNDING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297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pPr algn="r" indent="0" marL="0">
              <a:buNone/>
            </a:pPr>
            <a:r>
              <a:rPr lang="en-US" sz="900" dirty="0">
                <a:solidFill>
                  <a:srgbClr val="9A91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5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0292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496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1CDB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20  ·  CONCLUSION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394960" y="86868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6400" b="1" spc="-300" kern="0" dirty="0">
                <a:solidFill>
                  <a:srgbClr val="F7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strategy</a:t>
            </a:r>
            <a:endParaRPr lang="en-US" sz="6400" dirty="0"/>
          </a:p>
          <a:p>
            <a:pPr indent="0" marL="0">
              <a:lnSpc>
                <a:spcPct val="93000"/>
              </a:lnSpc>
              <a:buNone/>
            </a:pPr>
            <a:r>
              <a:rPr lang="en-US" sz="6400" b="1" spc="-300" kern="0" dirty="0">
                <a:solidFill>
                  <a:srgbClr val="F7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modern</a:t>
            </a:r>
            <a:endParaRPr lang="en-US" sz="6400" dirty="0"/>
          </a:p>
          <a:p>
            <a:pPr indent="0" marL="0">
              <a:lnSpc>
                <a:spcPct val="93000"/>
              </a:lnSpc>
              <a:buNone/>
            </a:pPr>
            <a:r>
              <a:rPr lang="en-US" sz="6400" b="1" spc="-300" kern="0" dirty="0">
                <a:solidFill>
                  <a:srgbClr val="F7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founders.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CDB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100" kern="0" dirty="0">
                <a:solidFill>
                  <a:srgbClr val="F7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convertibles.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525780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C2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early-stage fundraising with SAFEs to optimize speed and flexibility.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61688" y="4389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CDB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61688" y="4709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100" kern="0" dirty="0">
                <a:solidFill>
                  <a:srgbClr val="F7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Track dilution.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361688" y="525780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C2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absolute discipline in modeling potential equity dilution.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66176" y="4389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CDB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66176" y="4709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100" kern="0" dirty="0">
                <a:solidFill>
                  <a:srgbClr val="F7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the room.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66176" y="525780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C2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Outside Silicon Valley, educate local investors less familiar with modern convertibles.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6126480"/>
            <a:ext cx="11277295" cy="10973"/>
          </a:xfrm>
          <a:prstGeom prst="rect">
            <a:avLst/>
          </a:prstGeom>
          <a:solidFill>
            <a:srgbClr val="5A524C"/>
          </a:solidFill>
          <a:ln w="12700">
            <a:solidFill>
              <a:srgbClr val="5A52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AC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goal of fundraising efficiency is focus — getting money in the bank fast so you can go back to building your company.”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002975" y="457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CDB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2026-05-23T11:26:22Z</dcterms:created>
  <dcterms:modified xsi:type="dcterms:W3CDTF">2026-05-23T11:26:22Z</dcterms:modified>
</cp:coreProperties>
</file>