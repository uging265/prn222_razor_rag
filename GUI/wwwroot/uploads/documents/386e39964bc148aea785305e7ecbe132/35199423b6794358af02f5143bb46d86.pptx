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0"/>
            <a:ext cx="633953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852160" y="0"/>
            <a:ext cx="6339535" cy="6858000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5029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spc="3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A FOUNDER FIELD GUIDE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40080" y="777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spc="3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VOL. 01 · 2026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640080" y="1463040"/>
            <a:ext cx="731520" cy="0"/>
          </a:xfrm>
          <a:prstGeom prst="line">
            <a:avLst/>
          </a:prstGeom>
          <a:noFill/>
          <a:ln w="19050">
            <a:solidFill>
              <a:srgbClr val="C57B5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1737360"/>
            <a:ext cx="5486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800" b="1" spc="-3000" kern="0" dirty="0">
                <a:solidFill>
                  <a:srgbClr val="1F1B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</a:t>
            </a:r>
            <a:endParaRPr lang="en-US" sz="8800" dirty="0"/>
          </a:p>
        </p:txBody>
      </p:sp>
      <p:sp>
        <p:nvSpPr>
          <p:cNvPr id="8" name="Text 5"/>
          <p:cNvSpPr/>
          <p:nvPr/>
        </p:nvSpPr>
        <p:spPr>
          <a:xfrm>
            <a:off x="548640" y="2788920"/>
            <a:ext cx="5486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800" b="1" spc="-3000" kern="0" dirty="0">
                <a:solidFill>
                  <a:srgbClr val="1F1B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Startup</a:t>
            </a:r>
            <a:endParaRPr lang="en-US" sz="8800" dirty="0"/>
          </a:p>
        </p:txBody>
      </p:sp>
      <p:sp>
        <p:nvSpPr>
          <p:cNvPr id="9" name="Text 6"/>
          <p:cNvSpPr/>
          <p:nvPr/>
        </p:nvSpPr>
        <p:spPr>
          <a:xfrm>
            <a:off x="548640" y="3840480"/>
            <a:ext cx="5486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800" i="1" spc="-3000" kern="0" dirty="0">
                <a:solidFill>
                  <a:srgbClr val="C57B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Funding.</a:t>
            </a:r>
            <a:endParaRPr lang="en-US" sz="8800" dirty="0"/>
          </a:p>
        </p:txBody>
      </p:sp>
      <p:sp>
        <p:nvSpPr>
          <p:cNvPr id="10" name="Text 7"/>
          <p:cNvSpPr/>
          <p:nvPr/>
        </p:nvSpPr>
        <p:spPr>
          <a:xfrm>
            <a:off x="640080" y="521208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4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dilution to the SAFE — how convertible securities quietly</a:t>
            </a:r>
            <a:endParaRPr lang="en-US" sz="1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4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rewrote the rules of early-stage fundraising.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0080" y="6263640"/>
            <a:ext cx="4663440" cy="0"/>
          </a:xfrm>
          <a:prstGeom prst="line">
            <a:avLst/>
          </a:prstGeom>
          <a:noFill/>
          <a:ln w="6350">
            <a:solidFill>
              <a:srgbClr val="D9CFB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spc="3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 I  ·  II  ·  III  ·  IV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572000" y="6355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b="1" spc="3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 PAGES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972800" y="50292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750" b="1" spc="200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FIG. 01</a:t>
            </a:r>
            <a:endParaRPr lang="en-US" sz="750" dirty="0"/>
          </a:p>
          <a:p>
            <a:pPr algn="r" indent="0" marL="0">
              <a:lnSpc>
                <a:spcPct val="150000"/>
              </a:lnSpc>
              <a:buNone/>
            </a:pPr>
            <a:r>
              <a:rPr lang="en-US" sz="750" b="1" spc="200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COMPOSITION IN</a:t>
            </a:r>
            <a:endParaRPr lang="en-US" sz="750" dirty="0"/>
          </a:p>
          <a:p>
            <a:pPr algn="r" indent="0" marL="0">
              <a:lnSpc>
                <a:spcPct val="150000"/>
              </a:lnSpc>
              <a:buNone/>
            </a:pPr>
            <a:r>
              <a:rPr lang="en-US" sz="750" b="1" spc="200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PEACH &amp; SAGE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F1B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094415" cy="0"/>
          </a:xfrm>
          <a:prstGeom prst="line">
            <a:avLst/>
          </a:prstGeom>
          <a:noFill/>
          <a:ln w="6350">
            <a:solidFill>
              <a:srgbClr val="D9CFB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spc="25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 STARTUP FUNDING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955280" y="182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spc="2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A FOUNDER FIELD GUIDE / 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6350">
            <a:solidFill>
              <a:srgbClr val="D9CF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spc="2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 /  25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95528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spc="2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MODERN.STARTUP.FUNDING — INDEX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1B17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6350">
            <a:solidFill>
              <a:srgbClr val="3A33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spc="20000" kern="0" dirty="0">
                <a:solidFill>
                  <a:srgbClr val="A89B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 /  25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95528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b="1" spc="20000" kern="0" dirty="0">
                <a:solidFill>
                  <a:srgbClr val="A89B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ONE — BACKGROUND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1B17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457200"/>
            <a:ext cx="11094415" cy="0"/>
          </a:xfrm>
          <a:prstGeom prst="line">
            <a:avLst/>
          </a:prstGeom>
          <a:noFill/>
          <a:ln w="6350">
            <a:solidFill>
              <a:srgbClr val="3A33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182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spc="25000" kern="0" dirty="0">
                <a:solidFill>
                  <a:srgbClr val="A89B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 STARTUP FUNDING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955280" y="182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spc="20000" kern="0" dirty="0">
                <a:solidFill>
                  <a:srgbClr val="A89B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A FOUNDER FIELD GUIDE / 2026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48640" y="137160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000" b="1" spc="-4000" kern="0" dirty="0">
                <a:solidFill>
                  <a:srgbClr val="EAC9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28000" dirty="0"/>
          </a:p>
        </p:txBody>
      </p:sp>
      <p:sp>
        <p:nvSpPr>
          <p:cNvPr id="17" name="Text 15"/>
          <p:cNvSpPr/>
          <p:nvPr/>
        </p:nvSpPr>
        <p:spPr>
          <a:xfrm>
            <a:off x="6583680" y="1554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spc="30000" kern="0" dirty="0">
                <a:solidFill>
                  <a:srgbClr val="EAC9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PART ONE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583680" y="1920240"/>
            <a:ext cx="5303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b="1" spc="-2000" kern="0" dirty="0">
                <a:solidFill>
                  <a:srgbClr val="F6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Background</a:t>
            </a:r>
            <a:endParaRPr lang="en-US" sz="5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400" b="1" spc="-2000" kern="0" dirty="0">
                <a:solidFill>
                  <a:srgbClr val="F6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&amp; Traditional</a:t>
            </a:r>
            <a:endParaRPr lang="en-US" sz="5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400" b="1" spc="-2000" kern="0" dirty="0">
                <a:solidFill>
                  <a:srgbClr val="F6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Financing.</a:t>
            </a:r>
            <a:endParaRPr lang="en-US" sz="5400" dirty="0"/>
          </a:p>
        </p:txBody>
      </p:sp>
      <p:sp>
        <p:nvSpPr>
          <p:cNvPr id="19" name="Shape 17"/>
          <p:cNvSpPr/>
          <p:nvPr/>
        </p:nvSpPr>
        <p:spPr>
          <a:xfrm>
            <a:off x="6583680" y="4754880"/>
            <a:ext cx="1645920" cy="0"/>
          </a:xfrm>
          <a:prstGeom prst="line">
            <a:avLst/>
          </a:prstGeom>
          <a:noFill/>
          <a:ln w="19050">
            <a:solidFill>
              <a:srgbClr val="EAC9B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493776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i="1" dirty="0">
                <a:solidFill>
                  <a:srgbClr val="D9CF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corporate-law closing volumes used to live —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i="1" dirty="0">
                <a:solidFill>
                  <a:srgbClr val="D9CF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why founders left them behind.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094415" cy="0"/>
          </a:xfrm>
          <a:prstGeom prst="line">
            <a:avLst/>
          </a:prstGeom>
          <a:noFill/>
          <a:ln w="6350">
            <a:solidFill>
              <a:srgbClr val="D9CFB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spc="25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 STARTUP FUNDING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955280" y="182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spc="2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A FOUNDER FIELD GUIDE / 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6350">
            <a:solidFill>
              <a:srgbClr val="D9CF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spc="2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 /  25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95528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spc="2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MODERN.STARTUP.FUNDING — INDEX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777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spc="25000" kern="0" dirty="0">
                <a:solidFill>
                  <a:srgbClr val="C57B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01  ·  INTRODUCTION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972800" y="777240"/>
            <a:ext cx="670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b="1" spc="2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§ 01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48640" y="10058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i="1" spc="1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shift in practice.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63040"/>
            <a:ext cx="4389120" cy="47548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48640" y="59436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b="1" spc="250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FIG. 02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548640" y="6080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spc="200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ARTIFACTS</a:t>
            </a:r>
            <a:endParaRPr lang="en-US" sz="7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750" b="1" spc="200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THE OLD WAY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5394960" y="15544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spc="-2000" kern="0" dirty="0">
                <a:solidFill>
                  <a:srgbClr val="1F1B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evolution</a:t>
            </a:r>
            <a:endParaRPr lang="en-US" sz="4800" dirty="0"/>
          </a:p>
        </p:txBody>
      </p:sp>
      <p:sp>
        <p:nvSpPr>
          <p:cNvPr id="15" name="Text 12"/>
          <p:cNvSpPr/>
          <p:nvPr/>
        </p:nvSpPr>
        <p:spPr>
          <a:xfrm>
            <a:off x="5394960" y="22860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spc="-2000" kern="0" dirty="0">
                <a:solidFill>
                  <a:srgbClr val="1F1B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startup</a:t>
            </a:r>
            <a:endParaRPr lang="en-US" sz="4800" dirty="0"/>
          </a:p>
        </p:txBody>
      </p:sp>
      <p:sp>
        <p:nvSpPr>
          <p:cNvPr id="16" name="Text 13"/>
          <p:cNvSpPr/>
          <p:nvPr/>
        </p:nvSpPr>
        <p:spPr>
          <a:xfrm>
            <a:off x="5394960" y="30175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i="1" spc="-2000" kern="0" dirty="0">
                <a:solidFill>
                  <a:srgbClr val="C57B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financing.</a:t>
            </a:r>
            <a:endParaRPr lang="en-US" sz="4800" dirty="0"/>
          </a:p>
        </p:txBody>
      </p:sp>
      <p:sp>
        <p:nvSpPr>
          <p:cNvPr id="17" name="Text 14"/>
          <p:cNvSpPr/>
          <p:nvPr/>
        </p:nvSpPr>
        <p:spPr>
          <a:xfrm>
            <a:off x="5394960" y="4160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spc="10000" kern="0" dirty="0">
                <a:solidFill>
                  <a:srgbClr val="C57B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943600" y="416052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4A4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fundamental nature of early-stage fundraising has completely shifted over the past two decades.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5394960" y="48188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spc="10000" kern="0" dirty="0">
                <a:solidFill>
                  <a:srgbClr val="C57B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943600" y="4818888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4A4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Thick, leather-bound "closing volumes" represent an old, bygone era of corporate law.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394960" y="54772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spc="10000" kern="0" dirty="0">
                <a:solidFill>
                  <a:srgbClr val="C57B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943600" y="5477256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4A4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Streamlined online documents and standardised structures are the new operating reality.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094415" cy="0"/>
          </a:xfrm>
          <a:prstGeom prst="line">
            <a:avLst/>
          </a:prstGeom>
          <a:noFill/>
          <a:ln w="6350">
            <a:solidFill>
              <a:srgbClr val="D9CFB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spc="25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 STARTUP FUNDING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955280" y="182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spc="2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A FOUNDER FIELD GUIDE / 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6350">
            <a:solidFill>
              <a:srgbClr val="D9CF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spc="2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 /  25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95528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spc="2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MODERN.STARTUP.FUNDING — INDEX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777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spc="25000" kern="0" dirty="0">
                <a:solidFill>
                  <a:srgbClr val="C57B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01  ·  STARTUP FINANCING BASICS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972800" y="777240"/>
            <a:ext cx="670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b="1" spc="2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§ 02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48640" y="13716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200" b="1" spc="-2000" kern="0" dirty="0">
                <a:solidFill>
                  <a:srgbClr val="1F1B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Forming the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548640" y="21488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200" b="1" spc="-2000" kern="0" dirty="0">
                <a:solidFill>
                  <a:srgbClr val="1F1B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corporate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548640" y="29260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200" i="1" spc="-2000" kern="0" dirty="0">
                <a:solidFill>
                  <a:srgbClr val="C57B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foundation.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548640" y="3931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50" i="1" dirty="0">
                <a:solidFill>
                  <a:srgbClr val="4A4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three-beat sequence every founder follows before the first outside check arrives.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0058400" y="1371600"/>
            <a:ext cx="1463040" cy="457200"/>
          </a:xfrm>
          <a:prstGeom prst="roundRect">
            <a:avLst>
              <a:gd name="adj" fmla="val 8000"/>
            </a:avLst>
          </a:prstGeom>
          <a:solidFill>
            <a:srgbClr val="1F1B17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0" y="14173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b="1" spc="30000" kern="0" dirty="0">
                <a:solidFill>
                  <a:srgbClr val="F6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01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4617720"/>
            <a:ext cx="3611880" cy="1508760"/>
          </a:xfrm>
          <a:prstGeom prst="roundRect">
            <a:avLst>
              <a:gd name="adj" fmla="val 3636"/>
            </a:avLst>
          </a:prstGeom>
          <a:solidFill>
            <a:srgbClr val="EFE7D8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4800600"/>
            <a:ext cx="777240" cy="777240"/>
          </a:xfrm>
          <a:prstGeom prst="ellipse">
            <a:avLst/>
          </a:prstGeom>
          <a:solidFill>
            <a:srgbClr val="DED6E3"/>
          </a:solidFill>
          <a:ln/>
        </p:spPr>
      </p:sp>
      <p:sp>
        <p:nvSpPr>
          <p:cNvPr id="18" name="Shape 16"/>
          <p:cNvSpPr/>
          <p:nvPr/>
        </p:nvSpPr>
        <p:spPr>
          <a:xfrm>
            <a:off x="1028700" y="5143500"/>
            <a:ext cx="365760" cy="256032"/>
          </a:xfrm>
          <a:prstGeom prst="rect">
            <a:avLst/>
          </a:prstGeom>
          <a:ln w="15875">
            <a:solidFill>
              <a:srgbClr val="4A42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10412" y="4988052"/>
            <a:ext cx="402336" cy="164592"/>
          </a:xfrm>
          <a:prstGeom prst="triangle">
            <a:avLst/>
          </a:prstGeom>
          <a:ln w="15875">
            <a:solidFill>
              <a:srgbClr val="4A423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75004" y="5280660"/>
            <a:ext cx="73152" cy="118872"/>
          </a:xfrm>
          <a:prstGeom prst="rect">
            <a:avLst/>
          </a:prstGeom>
          <a:ln w="9525">
            <a:solidFill>
              <a:srgbClr val="4A42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4846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spc="2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48463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5000" kern="0" dirty="0">
                <a:solidFill>
                  <a:srgbClr val="1F1B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INCORPORATE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737360" y="51206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4A4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 the idea, form a corporation to protect founders from personal liability.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52544" y="4617720"/>
            <a:ext cx="3611880" cy="1508760"/>
          </a:xfrm>
          <a:prstGeom prst="roundRect">
            <a:avLst>
              <a:gd name="adj" fmla="val 3636"/>
            </a:avLst>
          </a:prstGeom>
          <a:solidFill>
            <a:srgbClr val="EFE7D8"/>
          </a:solidFill>
          <a:ln/>
        </p:spPr>
      </p:sp>
      <p:sp>
        <p:nvSpPr>
          <p:cNvPr id="25" name="Shape 23"/>
          <p:cNvSpPr/>
          <p:nvPr/>
        </p:nvSpPr>
        <p:spPr>
          <a:xfrm>
            <a:off x="4626864" y="4800600"/>
            <a:ext cx="777240" cy="777240"/>
          </a:xfrm>
          <a:prstGeom prst="ellipse">
            <a:avLst/>
          </a:prstGeom>
          <a:solidFill>
            <a:srgbClr val="D3DCCC"/>
          </a:solidFill>
          <a:ln/>
        </p:spPr>
      </p:sp>
      <p:sp>
        <p:nvSpPr>
          <p:cNvPr id="26" name="Shape 24"/>
          <p:cNvSpPr/>
          <p:nvPr/>
        </p:nvSpPr>
        <p:spPr>
          <a:xfrm>
            <a:off x="4814316" y="4988052"/>
            <a:ext cx="402336" cy="402336"/>
          </a:xfrm>
          <a:prstGeom prst="ellipse">
            <a:avLst/>
          </a:prstGeom>
          <a:ln w="15875">
            <a:solidFill>
              <a:srgbClr val="4A42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78324" y="5024628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4A4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278624" y="4846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spc="2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541264" y="48463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5000" kern="0" dirty="0">
                <a:solidFill>
                  <a:srgbClr val="1F1B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COMMON STOCK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541264" y="51206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4A4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Founders purchase common stock at a fraction of a penny to fix initial ownership.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156448" y="4617720"/>
            <a:ext cx="3611880" cy="1508760"/>
          </a:xfrm>
          <a:prstGeom prst="roundRect">
            <a:avLst>
              <a:gd name="adj" fmla="val 3636"/>
            </a:avLst>
          </a:prstGeom>
          <a:solidFill>
            <a:srgbClr val="EFE7D8"/>
          </a:solidFill>
          <a:ln/>
        </p:spPr>
      </p:sp>
      <p:sp>
        <p:nvSpPr>
          <p:cNvPr id="32" name="Shape 30"/>
          <p:cNvSpPr/>
          <p:nvPr/>
        </p:nvSpPr>
        <p:spPr>
          <a:xfrm>
            <a:off x="8430768" y="4800600"/>
            <a:ext cx="777240" cy="777240"/>
          </a:xfrm>
          <a:prstGeom prst="ellipse">
            <a:avLst/>
          </a:prstGeom>
          <a:solidFill>
            <a:srgbClr val="F5DECB"/>
          </a:solidFill>
          <a:ln/>
        </p:spPr>
      </p:sp>
      <p:sp>
        <p:nvSpPr>
          <p:cNvPr id="33" name="Shape 31"/>
          <p:cNvSpPr/>
          <p:nvPr/>
        </p:nvSpPr>
        <p:spPr>
          <a:xfrm>
            <a:off x="8618220" y="4988052"/>
            <a:ext cx="402336" cy="402336"/>
          </a:xfrm>
          <a:prstGeom prst="ellipse">
            <a:avLst/>
          </a:prstGeom>
          <a:ln w="15875">
            <a:solidFill>
              <a:srgbClr val="4A423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819388" y="5061204"/>
            <a:ext cx="0" cy="128016"/>
          </a:xfrm>
          <a:prstGeom prst="line">
            <a:avLst/>
          </a:prstGeom>
          <a:noFill/>
          <a:ln w="9525">
            <a:solidFill>
              <a:srgbClr val="4A423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819388" y="5189220"/>
            <a:ext cx="91440" cy="0"/>
          </a:xfrm>
          <a:prstGeom prst="line">
            <a:avLst/>
          </a:prstGeom>
          <a:noFill/>
          <a:ln w="9525">
            <a:solidFill>
              <a:srgbClr val="4A423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082528" y="4846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spc="2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345168" y="48463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5000" kern="0" dirty="0">
                <a:solidFill>
                  <a:srgbClr val="1F1B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RUNWAY ENDS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9345168" y="51206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4A4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Bootstrapping carries the company briefly — then outside capital is required to hire and scale.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160520" y="5367528"/>
            <a:ext cx="192024" cy="0"/>
          </a:xfrm>
          <a:prstGeom prst="line">
            <a:avLst/>
          </a:prstGeom>
          <a:noFill/>
          <a:ln w="12700">
            <a:solidFill>
              <a:srgbClr val="D9CFB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964424" y="5367528"/>
            <a:ext cx="192024" cy="0"/>
          </a:xfrm>
          <a:prstGeom prst="line">
            <a:avLst/>
          </a:prstGeom>
          <a:noFill/>
          <a:ln w="12700">
            <a:solidFill>
              <a:srgbClr val="D9CFBE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094415" cy="0"/>
          </a:xfrm>
          <a:prstGeom prst="line">
            <a:avLst/>
          </a:prstGeom>
          <a:noFill/>
          <a:ln w="6350">
            <a:solidFill>
              <a:srgbClr val="D9CFB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spc="25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 STARTUP FUNDING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955280" y="182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spc="2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A FOUNDER FIELD GUIDE / 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6350">
            <a:solidFill>
              <a:srgbClr val="D9CF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spc="2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 /  25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95528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spc="2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MODERN.STARTUP.FUNDING — INDEX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777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spc="25000" kern="0" dirty="0">
                <a:solidFill>
                  <a:srgbClr val="C57B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01  ·  THE NEED FOR PREFERRED STOCK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972800" y="777240"/>
            <a:ext cx="670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b="1" spc="2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§ 03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48640" y="1463040"/>
            <a:ext cx="594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600" b="1" spc="-3000" kern="0" dirty="0">
                <a:solidFill>
                  <a:srgbClr val="D9CF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COMMON</a:t>
            </a:r>
            <a:endParaRPr lang="en-US" sz="9600" dirty="0"/>
          </a:p>
        </p:txBody>
      </p:sp>
      <p:sp>
        <p:nvSpPr>
          <p:cNvPr id="11" name="Shape 9"/>
          <p:cNvSpPr/>
          <p:nvPr/>
        </p:nvSpPr>
        <p:spPr>
          <a:xfrm>
            <a:off x="594360" y="2240280"/>
            <a:ext cx="3337560" cy="0"/>
          </a:xfrm>
          <a:prstGeom prst="line">
            <a:avLst/>
          </a:prstGeom>
          <a:noFill/>
          <a:ln w="19050">
            <a:solidFill>
              <a:srgbClr val="8A7F7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60604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600" b="1" spc="-3000" kern="0" dirty="0">
                <a:solidFill>
                  <a:srgbClr val="1F1B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PREFERRED</a:t>
            </a:r>
            <a:endParaRPr lang="en-US" sz="9600" dirty="0"/>
          </a:p>
        </p:txBody>
      </p:sp>
      <p:sp>
        <p:nvSpPr>
          <p:cNvPr id="13" name="Shape 11"/>
          <p:cNvSpPr/>
          <p:nvPr/>
        </p:nvSpPr>
        <p:spPr>
          <a:xfrm>
            <a:off x="594360" y="3703320"/>
            <a:ext cx="4434840" cy="0"/>
          </a:xfrm>
          <a:prstGeom prst="line">
            <a:avLst/>
          </a:prstGeom>
          <a:noFill/>
          <a:ln w="25400">
            <a:solidFill>
              <a:srgbClr val="C57B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82219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i="1" spc="5000" kern="0" dirty="0">
                <a:solidFill>
                  <a:srgbClr val="4A4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the stock professional investors actually buy.</a:t>
            </a:r>
            <a:endParaRPr lang="en-US" sz="14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503920" y="1371600"/>
            <a:ext cx="3136392" cy="237744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503920" y="38221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spc="2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FIG. 03 — INK STUDIES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548640" y="4617720"/>
            <a:ext cx="3611880" cy="0"/>
          </a:xfrm>
          <a:prstGeom prst="line">
            <a:avLst/>
          </a:prstGeom>
          <a:noFill/>
          <a:ln w="12700">
            <a:solidFill>
              <a:srgbClr val="1F1B1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47091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i="1" dirty="0">
                <a:solidFill>
                  <a:srgbClr val="C57B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Why?</a:t>
            </a:r>
            <a:endParaRPr lang="en-US" sz="3200" dirty="0"/>
          </a:p>
        </p:txBody>
      </p:sp>
      <p:sp>
        <p:nvSpPr>
          <p:cNvPr id="19" name="Text 16"/>
          <p:cNvSpPr/>
          <p:nvPr/>
        </p:nvSpPr>
        <p:spPr>
          <a:xfrm>
            <a:off x="548640" y="54406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4A4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Startups cannot raise meaningful capital by selling common stock to outside investors.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352544" y="4617720"/>
            <a:ext cx="3611880" cy="0"/>
          </a:xfrm>
          <a:prstGeom prst="line">
            <a:avLst/>
          </a:prstGeom>
          <a:noFill/>
          <a:ln w="12700">
            <a:solidFill>
              <a:srgbClr val="1F1B1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352544" y="47091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i="1" dirty="0">
                <a:solidFill>
                  <a:srgbClr val="C57B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What?</a:t>
            </a:r>
            <a:endParaRPr lang="en-US" sz="3200" dirty="0"/>
          </a:p>
        </p:txBody>
      </p:sp>
      <p:sp>
        <p:nvSpPr>
          <p:cNvPr id="22" name="Text 19"/>
          <p:cNvSpPr/>
          <p:nvPr/>
        </p:nvSpPr>
        <p:spPr>
          <a:xfrm>
            <a:off x="4352544" y="54406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4A4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Investors require a completely separate class — preferred stock, priced higher.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8156448" y="4617720"/>
            <a:ext cx="3611880" cy="0"/>
          </a:xfrm>
          <a:prstGeom prst="line">
            <a:avLst/>
          </a:prstGeom>
          <a:noFill/>
          <a:ln w="12700">
            <a:solidFill>
              <a:srgbClr val="1F1B1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156448" y="47091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i="1" dirty="0">
                <a:solidFill>
                  <a:srgbClr val="C57B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Cost?</a:t>
            </a:r>
            <a:endParaRPr lang="en-US" sz="3200" dirty="0"/>
          </a:p>
        </p:txBody>
      </p:sp>
      <p:sp>
        <p:nvSpPr>
          <p:cNvPr id="25" name="Text 22"/>
          <p:cNvSpPr/>
          <p:nvPr/>
        </p:nvSpPr>
        <p:spPr>
          <a:xfrm>
            <a:off x="8156448" y="54406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4A4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Preferred is more expensive, with specific protective provisions for the investor.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094415" cy="0"/>
          </a:xfrm>
          <a:prstGeom prst="line">
            <a:avLst/>
          </a:prstGeom>
          <a:noFill/>
          <a:ln w="6350">
            <a:solidFill>
              <a:srgbClr val="D9CFB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spc="25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 STARTUP FUNDING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955280" y="182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spc="2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A FOUNDER FIELD GUIDE / 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6350">
            <a:solidFill>
              <a:srgbClr val="D9CF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spc="2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 /  25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95528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spc="2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MODERN.STARTUP.FUNDING — INDEX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777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spc="25000" kern="0" dirty="0">
                <a:solidFill>
                  <a:srgbClr val="C57B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01  ·  KEY CONCEPTS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972800" y="777240"/>
            <a:ext cx="670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b="1" spc="2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§ 04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48640" y="137160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00" b="1" spc="-2500" kern="0" dirty="0">
                <a:solidFill>
                  <a:srgbClr val="1F1B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twin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548640" y="219456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00" i="1" spc="-2500" kern="0" dirty="0">
                <a:solidFill>
                  <a:srgbClr val="C57B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pillars.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548640" y="3154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4A4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ideas that govern every line in a term sheet.</a:t>
            </a:r>
            <a:endParaRPr lang="en-US" sz="13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0" y="1280160"/>
            <a:ext cx="3886200" cy="22860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48640" y="4023360"/>
            <a:ext cx="5577840" cy="2194560"/>
          </a:xfrm>
          <a:prstGeom prst="roundRect">
            <a:avLst>
              <a:gd name="adj" fmla="val 3333"/>
            </a:avLst>
          </a:prstGeom>
          <a:solidFill>
            <a:srgbClr val="F5DECB"/>
          </a:solidFill>
          <a:ln/>
        </p:spPr>
      </p:sp>
      <p:sp>
        <p:nvSpPr>
          <p:cNvPr id="15" name="Text 12"/>
          <p:cNvSpPr/>
          <p:nvPr/>
        </p:nvSpPr>
        <p:spPr>
          <a:xfrm>
            <a:off x="914400" y="4160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spc="20000" kern="0" dirty="0">
                <a:solidFill>
                  <a:srgbClr val="4A4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120640" y="4114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400" b="1" dirty="0">
                <a:solidFill>
                  <a:srgbClr val="1F1B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</a:t>
            </a:r>
            <a:endParaRPr lang="en-US" sz="6400" dirty="0"/>
          </a:p>
        </p:txBody>
      </p:sp>
      <p:sp>
        <p:nvSpPr>
          <p:cNvPr id="17" name="Text 14"/>
          <p:cNvSpPr/>
          <p:nvPr/>
        </p:nvSpPr>
        <p:spPr>
          <a:xfrm>
            <a:off x="914400" y="46177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i="1" spc="-1000" kern="0" dirty="0">
                <a:solidFill>
                  <a:srgbClr val="1F1B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Valuation</a:t>
            </a:r>
            <a:endParaRPr lang="en-US" sz="3600" dirty="0"/>
          </a:p>
        </p:txBody>
      </p:sp>
      <p:sp>
        <p:nvSpPr>
          <p:cNvPr id="18" name="Text 15"/>
          <p:cNvSpPr/>
          <p:nvPr/>
        </p:nvSpPr>
        <p:spPr>
          <a:xfrm>
            <a:off x="914400" y="534924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4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calculated, agreed-upon total value of the enterprise at the time of fundraising.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291072" y="4023360"/>
            <a:ext cx="5577840" cy="2194560"/>
          </a:xfrm>
          <a:prstGeom prst="roundRect">
            <a:avLst>
              <a:gd name="adj" fmla="val 3333"/>
            </a:avLst>
          </a:prstGeom>
          <a:solidFill>
            <a:srgbClr val="D3DCCC"/>
          </a:solidFill>
          <a:ln/>
        </p:spPr>
      </p:sp>
      <p:sp>
        <p:nvSpPr>
          <p:cNvPr id="20" name="Text 17"/>
          <p:cNvSpPr/>
          <p:nvPr/>
        </p:nvSpPr>
        <p:spPr>
          <a:xfrm>
            <a:off x="6656832" y="4160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spc="20000" kern="0" dirty="0">
                <a:solidFill>
                  <a:srgbClr val="4A4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0863072" y="4114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400" b="1" dirty="0">
                <a:solidFill>
                  <a:srgbClr val="1F1B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6400" dirty="0"/>
          </a:p>
        </p:txBody>
      </p:sp>
      <p:sp>
        <p:nvSpPr>
          <p:cNvPr id="22" name="Text 19"/>
          <p:cNvSpPr/>
          <p:nvPr/>
        </p:nvSpPr>
        <p:spPr>
          <a:xfrm>
            <a:off x="6656832" y="46177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i="1" spc="-1000" kern="0" dirty="0">
                <a:solidFill>
                  <a:srgbClr val="1F1B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Dilution</a:t>
            </a:r>
            <a:endParaRPr lang="en-US" sz="3600" dirty="0"/>
          </a:p>
        </p:txBody>
      </p:sp>
      <p:sp>
        <p:nvSpPr>
          <p:cNvPr id="23" name="Text 20"/>
          <p:cNvSpPr/>
          <p:nvPr/>
        </p:nvSpPr>
        <p:spPr>
          <a:xfrm>
            <a:off x="6656832" y="534924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4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Founders’ ownership percentage decreases after accepting new outside capital — a smaller slice of a bigger pie.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094415" cy="0"/>
          </a:xfrm>
          <a:prstGeom prst="line">
            <a:avLst/>
          </a:prstGeom>
          <a:noFill/>
          <a:ln w="6350">
            <a:solidFill>
              <a:srgbClr val="D9CFB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spc="25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 STARTUP FUNDING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955280" y="182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spc="2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A FOUNDER FIELD GUIDE / 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6350">
            <a:solidFill>
              <a:srgbClr val="D9CF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spc="2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 /  25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95528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spc="2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MODERN.STARTUP.FUNDING — INDEX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777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spc="25000" kern="0" dirty="0">
                <a:solidFill>
                  <a:srgbClr val="C57B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01  ·  THE TRADITIONAL PROCESS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972800" y="777240"/>
            <a:ext cx="670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b="1" spc="2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§ 05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48640" y="1371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spc="-2000" kern="0" dirty="0">
                <a:solidFill>
                  <a:srgbClr val="1F1B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Mechanics of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548640" y="212140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i="1" spc="-2000" kern="0" dirty="0">
                <a:solidFill>
                  <a:srgbClr val="C57B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priced round.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548640" y="2971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4A4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Series A sells preferred stock at a specific calculated price per share.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611880"/>
            <a:ext cx="11091672" cy="1188720"/>
          </a:xfrm>
          <a:prstGeom prst="roundRect">
            <a:avLst>
              <a:gd name="adj" fmla="val 4615"/>
            </a:avLst>
          </a:prstGeom>
          <a:solidFill>
            <a:srgbClr val="EFE7D8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749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1F1B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1508760" y="38404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spc="10000" kern="0" dirty="0">
                <a:solidFill>
                  <a:srgbClr val="4A4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b="1" spc="10000" kern="0" dirty="0">
                <a:solidFill>
                  <a:srgbClr val="4A4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20440" y="384048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60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÷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114800" y="3749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1F1B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Σ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4754880" y="38404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spc="10000" kern="0" dirty="0">
                <a:solidFill>
                  <a:srgbClr val="4A4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Outstanding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b="1" spc="10000" kern="0" dirty="0">
                <a:solidFill>
                  <a:srgbClr val="4A4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75120" y="384048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60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</a:t>
            </a:r>
            <a:endParaRPr lang="en-US" sz="3600" dirty="0"/>
          </a:p>
        </p:txBody>
      </p:sp>
      <p:sp>
        <p:nvSpPr>
          <p:cNvPr id="20" name="Shape 18"/>
          <p:cNvSpPr/>
          <p:nvPr/>
        </p:nvSpPr>
        <p:spPr>
          <a:xfrm>
            <a:off x="7269480" y="3840480"/>
            <a:ext cx="4160520" cy="777240"/>
          </a:xfrm>
          <a:prstGeom prst="roundRect">
            <a:avLst>
              <a:gd name="adj" fmla="val 5882"/>
            </a:avLst>
          </a:prstGeom>
          <a:solidFill>
            <a:srgbClr val="C57B57"/>
          </a:solidFill>
          <a:ln/>
        </p:spPr>
      </p:sp>
      <p:sp>
        <p:nvSpPr>
          <p:cNvPr id="21" name="Text 19"/>
          <p:cNvSpPr/>
          <p:nvPr/>
        </p:nvSpPr>
        <p:spPr>
          <a:xfrm>
            <a:off x="7406640" y="388620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b="1" i="1" dirty="0">
                <a:solidFill>
                  <a:srgbClr val="F6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PPS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9006840" y="38862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b="1" spc="15000" kern="0" dirty="0">
                <a:solidFill>
                  <a:srgbClr val="F6E5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per Share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5074920"/>
            <a:ext cx="5577840" cy="1188720"/>
          </a:xfrm>
          <a:prstGeom prst="roundRect">
            <a:avLst>
              <a:gd name="adj" fmla="val 4615"/>
            </a:avLst>
          </a:prstGeom>
          <a:solidFill>
            <a:srgbClr val="DED6E3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5212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30000" kern="0" dirty="0">
                <a:solidFill>
                  <a:srgbClr val="4A4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14400" y="553212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1F1B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Angel consortiums pooled to write one collective check of $1.5M–$2M.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291072" y="5074920"/>
            <a:ext cx="5577840" cy="1188720"/>
          </a:xfrm>
          <a:prstGeom prst="roundRect">
            <a:avLst>
              <a:gd name="adj" fmla="val 4615"/>
            </a:avLst>
          </a:prstGeom>
          <a:solidFill>
            <a:srgbClr val="D3DCCC"/>
          </a:solidFill>
          <a:ln/>
        </p:spPr>
      </p:sp>
      <p:sp>
        <p:nvSpPr>
          <p:cNvPr id="27" name="Text 25"/>
          <p:cNvSpPr/>
          <p:nvPr/>
        </p:nvSpPr>
        <p:spPr>
          <a:xfrm>
            <a:off x="6656832" y="5212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30000" kern="0" dirty="0">
                <a:solidFill>
                  <a:srgbClr val="4A4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NOW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656832" y="553212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1F1B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Angels and individuals write smaller, independent checks instead of forming consortiums.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094415" cy="0"/>
          </a:xfrm>
          <a:prstGeom prst="line">
            <a:avLst/>
          </a:prstGeom>
          <a:noFill/>
          <a:ln w="6350">
            <a:solidFill>
              <a:srgbClr val="D9CFB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spc="25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 STARTUP FUNDING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955280" y="182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spc="2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A FOUNDER FIELD GUIDE / 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6350">
            <a:solidFill>
              <a:srgbClr val="D9CF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spc="2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 /  25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95528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spc="2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MODERN.STARTUP.FUNDING — INDEX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777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spc="25000" kern="0" dirty="0">
                <a:solidFill>
                  <a:srgbClr val="C57B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01  ·  THE FRICTION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972800" y="777240"/>
            <a:ext cx="670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b="1" spc="2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§ 06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48640" y="13716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00" b="1" spc="-2500" kern="0" dirty="0">
                <a:solidFill>
                  <a:srgbClr val="1F1B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burden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548640" y="21945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00" i="1" spc="-2500" kern="0" dirty="0">
                <a:solidFill>
                  <a:srgbClr val="C57B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the old way.</a:t>
            </a:r>
            <a:endParaRPr lang="en-US" sz="56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0" y="1280160"/>
            <a:ext cx="3410712" cy="237744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229600" y="3749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spc="2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FIG. 04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48640" y="3200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4A4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numbers that explain why founders abandoned the priced-first model.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4160520"/>
            <a:ext cx="3611880" cy="2057400"/>
          </a:xfrm>
          <a:prstGeom prst="roundRect">
            <a:avLst>
              <a:gd name="adj" fmla="val 2667"/>
            </a:avLst>
          </a:prstGeom>
          <a:solidFill>
            <a:srgbClr val="EFE7D8"/>
          </a:solidFill>
          <a:ln/>
        </p:spPr>
      </p:sp>
      <p:sp>
        <p:nvSpPr>
          <p:cNvPr id="16" name="Text 13"/>
          <p:cNvSpPr/>
          <p:nvPr/>
        </p:nvSpPr>
        <p:spPr>
          <a:xfrm>
            <a:off x="868680" y="429768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00" b="1" spc="-2000" kern="0" dirty="0">
                <a:solidFill>
                  <a:srgbClr val="C57B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4+</a:t>
            </a:r>
            <a:endParaRPr lang="en-US" sz="5600" dirty="0"/>
          </a:p>
        </p:txBody>
      </p:sp>
      <p:sp>
        <p:nvSpPr>
          <p:cNvPr id="17" name="Text 14"/>
          <p:cNvSpPr/>
          <p:nvPr/>
        </p:nvSpPr>
        <p:spPr>
          <a:xfrm>
            <a:off x="868680" y="5212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spc="25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68680" y="5486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4A4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spent closing a single round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868680" y="5760720"/>
            <a:ext cx="1508760" cy="0"/>
          </a:xfrm>
          <a:prstGeom prst="line">
            <a:avLst/>
          </a:prstGeom>
          <a:noFill/>
          <a:ln w="6350">
            <a:solidFill>
              <a:srgbClr val="D9CFB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8680" y="5852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F1B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Founders pulled away from product.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352544" y="4160520"/>
            <a:ext cx="3611880" cy="2057400"/>
          </a:xfrm>
          <a:prstGeom prst="roundRect">
            <a:avLst>
              <a:gd name="adj" fmla="val 2667"/>
            </a:avLst>
          </a:prstGeom>
          <a:solidFill>
            <a:srgbClr val="EFE7D8"/>
          </a:solidFill>
          <a:ln/>
        </p:spPr>
      </p:sp>
      <p:sp>
        <p:nvSpPr>
          <p:cNvPr id="22" name="Text 19"/>
          <p:cNvSpPr/>
          <p:nvPr/>
        </p:nvSpPr>
        <p:spPr>
          <a:xfrm>
            <a:off x="4672584" y="429768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00" b="1" spc="-2000" kern="0" dirty="0">
                <a:solidFill>
                  <a:srgbClr val="C57B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$25–100K</a:t>
            </a:r>
            <a:endParaRPr lang="en-US" sz="5600" dirty="0"/>
          </a:p>
        </p:txBody>
      </p:sp>
      <p:sp>
        <p:nvSpPr>
          <p:cNvPr id="23" name="Text 20"/>
          <p:cNvSpPr/>
          <p:nvPr/>
        </p:nvSpPr>
        <p:spPr>
          <a:xfrm>
            <a:off x="4672584" y="5212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spc="25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LEGAL FEES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672584" y="5486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4A4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 round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672584" y="5760720"/>
            <a:ext cx="1508760" cy="0"/>
          </a:xfrm>
          <a:prstGeom prst="line">
            <a:avLst/>
          </a:prstGeom>
          <a:noFill/>
          <a:ln w="6350">
            <a:solidFill>
              <a:srgbClr val="D9CFB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672584" y="5852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F1B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Drained directly from runway.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8156448" y="4160520"/>
            <a:ext cx="3611880" cy="2057400"/>
          </a:xfrm>
          <a:prstGeom prst="roundRect">
            <a:avLst>
              <a:gd name="adj" fmla="val 2667"/>
            </a:avLst>
          </a:prstGeom>
          <a:solidFill>
            <a:srgbClr val="EFE7D8"/>
          </a:solidFill>
          <a:ln/>
        </p:spPr>
      </p:sp>
      <p:sp>
        <p:nvSpPr>
          <p:cNvPr id="28" name="Text 25"/>
          <p:cNvSpPr/>
          <p:nvPr/>
        </p:nvSpPr>
        <p:spPr>
          <a:xfrm>
            <a:off x="8476488" y="429768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00" b="1" spc="-2000" kern="0" dirty="0">
                <a:solidFill>
                  <a:srgbClr val="C57B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6+</a:t>
            </a:r>
            <a:endParaRPr lang="en-US" sz="5600" dirty="0"/>
          </a:p>
        </p:txBody>
      </p:sp>
      <p:sp>
        <p:nvSpPr>
          <p:cNvPr id="29" name="Text 26"/>
          <p:cNvSpPr/>
          <p:nvPr/>
        </p:nvSpPr>
        <p:spPr>
          <a:xfrm>
            <a:off x="8476488" y="5212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spc="25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NEGOTIATION TRACKS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8476488" y="5486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4A4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parallel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8476488" y="5760720"/>
            <a:ext cx="1508760" cy="0"/>
          </a:xfrm>
          <a:prstGeom prst="line">
            <a:avLst/>
          </a:prstGeom>
          <a:noFill/>
          <a:ln w="6350">
            <a:solidFill>
              <a:srgbClr val="D9CFB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476488" y="5852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F1B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Voting, liquidation, pro-rata, control.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1B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1B17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6350">
            <a:solidFill>
              <a:srgbClr val="3A33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spc="20000" kern="0" dirty="0">
                <a:solidFill>
                  <a:srgbClr val="A89B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 /  25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95528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b="1" spc="20000" kern="0" dirty="0">
                <a:solidFill>
                  <a:srgbClr val="A89B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TWO — CONVERTIBLES &amp; THE SAFE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457200"/>
            <a:ext cx="11094415" cy="0"/>
          </a:xfrm>
          <a:prstGeom prst="line">
            <a:avLst/>
          </a:prstGeom>
          <a:noFill/>
          <a:ln w="6350">
            <a:solidFill>
              <a:srgbClr val="3A33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2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spc="25000" kern="0" dirty="0">
                <a:solidFill>
                  <a:srgbClr val="A89B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 STARTUP FUNDING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955280" y="182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spc="20000" kern="0" dirty="0">
                <a:solidFill>
                  <a:srgbClr val="A89B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A FOUNDER FIELD GUIDE / 2026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8640" y="137160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000" b="1" spc="-4000" kern="0" dirty="0">
                <a:solidFill>
                  <a:srgbClr val="B8C5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28000" dirty="0"/>
          </a:p>
        </p:txBody>
      </p:sp>
      <p:sp>
        <p:nvSpPr>
          <p:cNvPr id="10" name="Text 8"/>
          <p:cNvSpPr/>
          <p:nvPr/>
        </p:nvSpPr>
        <p:spPr>
          <a:xfrm>
            <a:off x="6583680" y="1554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spc="30000" kern="0" dirty="0">
                <a:solidFill>
                  <a:srgbClr val="B8C5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PART TWO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583680" y="1920240"/>
            <a:ext cx="5303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spc="-2000" kern="0" dirty="0">
                <a:solidFill>
                  <a:srgbClr val="F6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Convertible</a:t>
            </a:r>
            <a:endParaRPr lang="en-US" sz="4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800" b="1" spc="-2000" kern="0" dirty="0">
                <a:solidFill>
                  <a:srgbClr val="F6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Notes &amp; the</a:t>
            </a:r>
            <a:endParaRPr lang="en-US" sz="4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800" b="1" spc="-2000" kern="0" dirty="0">
                <a:solidFill>
                  <a:srgbClr val="F6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Birth of the SAFE.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6583680" y="4754880"/>
            <a:ext cx="1645920" cy="0"/>
          </a:xfrm>
          <a:prstGeom prst="line">
            <a:avLst/>
          </a:prstGeom>
          <a:noFill/>
          <a:ln w="19050">
            <a:solidFill>
              <a:srgbClr val="B8C5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493776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i="1" dirty="0">
                <a:solidFill>
                  <a:srgbClr val="D9CF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the legal stack collapsed into a single document.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094415" cy="0"/>
          </a:xfrm>
          <a:prstGeom prst="line">
            <a:avLst/>
          </a:prstGeom>
          <a:noFill/>
          <a:ln w="6350">
            <a:solidFill>
              <a:srgbClr val="D9CFB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spc="25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 STARTUP FUNDING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955280" y="182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spc="2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A FOUNDER FIELD GUIDE / 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6350">
            <a:solidFill>
              <a:srgbClr val="D9CF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spc="2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 /  25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95528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spc="2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MODERN.STARTUP.FUNDING — INDEX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777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spc="25000" kern="0" dirty="0">
                <a:solidFill>
                  <a:srgbClr val="C57B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02  ·  ORIGIN OF CONVERTIBLES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972800" y="777240"/>
            <a:ext cx="670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b="1" spc="2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§ 07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48640" y="10058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i="1" spc="1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birth of the bridge loan.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0" y="1463040"/>
            <a:ext cx="3886200" cy="47548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818120" y="5989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b="1" spc="250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FIG. 05 — A STOPGAP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548640" y="17373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spc="-2000" kern="0" dirty="0">
                <a:solidFill>
                  <a:srgbClr val="1F1B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stop-gap that</a:t>
            </a:r>
            <a:endParaRPr lang="en-US" sz="4800" dirty="0"/>
          </a:p>
        </p:txBody>
      </p:sp>
      <p:sp>
        <p:nvSpPr>
          <p:cNvPr id="14" name="Text 11"/>
          <p:cNvSpPr/>
          <p:nvPr/>
        </p:nvSpPr>
        <p:spPr>
          <a:xfrm>
            <a:off x="548640" y="25146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spc="-2000" kern="0" dirty="0">
                <a:solidFill>
                  <a:srgbClr val="1F1B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outgrew its</a:t>
            </a:r>
            <a:endParaRPr lang="en-US" sz="4800" dirty="0"/>
          </a:p>
        </p:txBody>
      </p:sp>
      <p:sp>
        <p:nvSpPr>
          <p:cNvPr id="15" name="Text 12"/>
          <p:cNvSpPr/>
          <p:nvPr/>
        </p:nvSpPr>
        <p:spPr>
          <a:xfrm>
            <a:off x="548640" y="32918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i="1" spc="-2000" kern="0" dirty="0">
                <a:solidFill>
                  <a:srgbClr val="C57B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purpose.</a:t>
            </a:r>
            <a:endParaRPr lang="en-US" sz="4800" dirty="0"/>
          </a:p>
        </p:txBody>
      </p:sp>
      <p:sp>
        <p:nvSpPr>
          <p:cNvPr id="16" name="Shape 13"/>
          <p:cNvSpPr/>
          <p:nvPr/>
        </p:nvSpPr>
        <p:spPr>
          <a:xfrm>
            <a:off x="548640" y="4434840"/>
            <a:ext cx="6766560" cy="0"/>
          </a:xfrm>
          <a:prstGeom prst="line">
            <a:avLst/>
          </a:prstGeom>
          <a:noFill/>
          <a:ln w="6350">
            <a:solidFill>
              <a:srgbClr val="D9CFB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45262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C57B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188720" y="452628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A4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Priced-round inflexibility risked startups running out of money between events.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48640" y="5074920"/>
            <a:ext cx="6766560" cy="0"/>
          </a:xfrm>
          <a:prstGeom prst="line">
            <a:avLst/>
          </a:prstGeom>
          <a:noFill/>
          <a:ln w="6350">
            <a:solidFill>
              <a:srgbClr val="D9CFB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8640" y="5166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C57B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188720" y="516636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A4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bridge loan emerged as a temporary stopgap to cross the financial gap.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48640" y="5715000"/>
            <a:ext cx="6766560" cy="0"/>
          </a:xfrm>
          <a:prstGeom prst="line">
            <a:avLst/>
          </a:prstGeom>
          <a:noFill/>
          <a:ln w="6350">
            <a:solidFill>
              <a:srgbClr val="D9CFB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48640" y="58064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C57B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188720" y="580644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A4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instruments: a note purchase agreement and a convertible promissory note.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48640" y="6355080"/>
            <a:ext cx="6766560" cy="0"/>
          </a:xfrm>
          <a:prstGeom prst="line">
            <a:avLst/>
          </a:prstGeom>
          <a:noFill/>
          <a:ln w="6350">
            <a:solidFill>
              <a:srgbClr val="D9CFBE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094415" cy="0"/>
          </a:xfrm>
          <a:prstGeom prst="line">
            <a:avLst/>
          </a:prstGeom>
          <a:noFill/>
          <a:ln w="6350">
            <a:solidFill>
              <a:srgbClr val="D9CFB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spc="25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 STARTUP FUNDING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955280" y="182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spc="2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A FOUNDER FIELD GUIDE / 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6350">
            <a:solidFill>
              <a:srgbClr val="D9CF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spc="2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 /  25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95528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spc="2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MODERN.STARTUP.FUNDING — INDEX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777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spc="25000" kern="0" dirty="0">
                <a:solidFill>
                  <a:srgbClr val="C57B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02  ·  CONVERTIBLE DEBT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972800" y="777240"/>
            <a:ext cx="670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b="1" spc="2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§ 08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601200" y="109728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20000" b="1" dirty="0">
                <a:solidFill>
                  <a:srgbClr val="F5DE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20000" dirty="0"/>
          </a:p>
        </p:txBody>
      </p:sp>
      <p:sp>
        <p:nvSpPr>
          <p:cNvPr id="11" name="Text 9"/>
          <p:cNvSpPr/>
          <p:nvPr/>
        </p:nvSpPr>
        <p:spPr>
          <a:xfrm>
            <a:off x="548640" y="1371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200" b="1" spc="-2500" kern="0" dirty="0">
                <a:solidFill>
                  <a:srgbClr val="1F1B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Mechanics of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548640" y="21488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200" i="1" spc="-2500" kern="0" dirty="0">
                <a:solidFill>
                  <a:srgbClr val="C57B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convertible debt.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548640" y="3017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4A4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structural facts that defined the instrument.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3611880" cy="2423160"/>
          </a:xfrm>
          <a:prstGeom prst="roundRect">
            <a:avLst>
              <a:gd name="adj" fmla="val 2264"/>
            </a:avLst>
          </a:prstGeom>
          <a:solidFill>
            <a:srgbClr val="EFE7D8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3931920"/>
            <a:ext cx="777240" cy="777240"/>
          </a:xfrm>
          <a:prstGeom prst="ellipse">
            <a:avLst/>
          </a:prstGeom>
          <a:solidFill>
            <a:srgbClr val="F5DECB"/>
          </a:solidFill>
          <a:ln/>
        </p:spPr>
      </p:sp>
      <p:sp>
        <p:nvSpPr>
          <p:cNvPr id="16" name="Shape 14"/>
          <p:cNvSpPr/>
          <p:nvPr/>
        </p:nvSpPr>
        <p:spPr>
          <a:xfrm>
            <a:off x="1010412" y="4119372"/>
            <a:ext cx="402336" cy="402336"/>
          </a:xfrm>
          <a:prstGeom prst="ellipse">
            <a:avLst/>
          </a:prstGeom>
          <a:ln w="15875">
            <a:solidFill>
              <a:srgbClr val="4A42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74420" y="4155948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4A4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11880" y="3977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400" b="1" i="1" dirty="0">
                <a:solidFill>
                  <a:srgbClr val="1F1B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48463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spc="-1000" kern="0" dirty="0">
                <a:solidFill>
                  <a:srgbClr val="1F1B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It’s actually debt.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2960" y="54406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4A4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real loan — carries an accruing interest rate and a specific maturity date.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52544" y="3749040"/>
            <a:ext cx="3611880" cy="2423160"/>
          </a:xfrm>
          <a:prstGeom prst="roundRect">
            <a:avLst>
              <a:gd name="adj" fmla="val 2264"/>
            </a:avLst>
          </a:prstGeom>
          <a:solidFill>
            <a:srgbClr val="EFE7D8"/>
          </a:solidFill>
          <a:ln/>
        </p:spPr>
      </p:sp>
      <p:sp>
        <p:nvSpPr>
          <p:cNvPr id="22" name="Shape 20"/>
          <p:cNvSpPr/>
          <p:nvPr/>
        </p:nvSpPr>
        <p:spPr>
          <a:xfrm>
            <a:off x="4626864" y="3931920"/>
            <a:ext cx="777240" cy="777240"/>
          </a:xfrm>
          <a:prstGeom prst="ellipse">
            <a:avLst/>
          </a:prstGeom>
          <a:solidFill>
            <a:srgbClr val="D3DCCC"/>
          </a:solidFill>
          <a:ln/>
        </p:spPr>
      </p:sp>
      <p:sp>
        <p:nvSpPr>
          <p:cNvPr id="23" name="Shape 21"/>
          <p:cNvSpPr/>
          <p:nvPr/>
        </p:nvSpPr>
        <p:spPr>
          <a:xfrm>
            <a:off x="4814316" y="4320540"/>
            <a:ext cx="402336" cy="0"/>
          </a:xfrm>
          <a:prstGeom prst="line">
            <a:avLst/>
          </a:prstGeom>
          <a:noFill/>
          <a:ln w="15875">
            <a:solidFill>
              <a:srgbClr val="4A423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06924" y="4210812"/>
            <a:ext cx="109728" cy="109728"/>
          </a:xfrm>
          <a:prstGeom prst="line">
            <a:avLst/>
          </a:prstGeom>
          <a:noFill/>
          <a:ln w="15875">
            <a:solidFill>
              <a:srgbClr val="4A423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06924" y="4430268"/>
            <a:ext cx="109728" cy="-109728"/>
          </a:xfrm>
          <a:prstGeom prst="line">
            <a:avLst/>
          </a:prstGeom>
          <a:noFill/>
          <a:ln w="15875">
            <a:solidFill>
              <a:srgbClr val="4A42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15784" y="3977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400" b="1" i="1" dirty="0">
                <a:solidFill>
                  <a:srgbClr val="1F1B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26864" y="48463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spc="-1000" kern="0" dirty="0">
                <a:solidFill>
                  <a:srgbClr val="1F1B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converts, doesn’t repay.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626864" y="54406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4A4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Instead of cash, the debt converts to preferred stock at the next priced round.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56448" y="3749040"/>
            <a:ext cx="3611880" cy="2423160"/>
          </a:xfrm>
          <a:prstGeom prst="roundRect">
            <a:avLst>
              <a:gd name="adj" fmla="val 2264"/>
            </a:avLst>
          </a:prstGeom>
          <a:solidFill>
            <a:srgbClr val="EFE7D8"/>
          </a:solidFill>
          <a:ln/>
        </p:spPr>
      </p:sp>
      <p:sp>
        <p:nvSpPr>
          <p:cNvPr id="30" name="Shape 28"/>
          <p:cNvSpPr/>
          <p:nvPr/>
        </p:nvSpPr>
        <p:spPr>
          <a:xfrm>
            <a:off x="8430768" y="3931920"/>
            <a:ext cx="777240" cy="777240"/>
          </a:xfrm>
          <a:prstGeom prst="ellipse">
            <a:avLst/>
          </a:prstGeom>
          <a:solidFill>
            <a:srgbClr val="DED6E3"/>
          </a:solidFill>
          <a:ln/>
        </p:spPr>
      </p:sp>
      <p:sp>
        <p:nvSpPr>
          <p:cNvPr id="31" name="Shape 29"/>
          <p:cNvSpPr/>
          <p:nvPr/>
        </p:nvSpPr>
        <p:spPr>
          <a:xfrm>
            <a:off x="8618220" y="4155948"/>
            <a:ext cx="402336" cy="91440"/>
          </a:xfrm>
          <a:prstGeom prst="rect">
            <a:avLst/>
          </a:prstGeom>
          <a:ln w="9525">
            <a:solidFill>
              <a:srgbClr val="4A423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618220" y="4274820"/>
            <a:ext cx="402336" cy="91440"/>
          </a:xfrm>
          <a:prstGeom prst="rect">
            <a:avLst/>
          </a:prstGeom>
          <a:ln w="9525">
            <a:solidFill>
              <a:srgbClr val="4A423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618220" y="4393692"/>
            <a:ext cx="402336" cy="91440"/>
          </a:xfrm>
          <a:prstGeom prst="rect">
            <a:avLst/>
          </a:prstGeom>
          <a:ln w="9525">
            <a:solidFill>
              <a:srgbClr val="4A423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219688" y="3977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400" b="1" i="1" dirty="0">
                <a:solidFill>
                  <a:srgbClr val="1F1B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C.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430768" y="48463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spc="-1000" kern="0" dirty="0">
                <a:solidFill>
                  <a:srgbClr val="1F1B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outgrew “the bridge.”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430768" y="54406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4A4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Founders started using the note as a standalone first fundraising document.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094415" cy="0"/>
          </a:xfrm>
          <a:prstGeom prst="line">
            <a:avLst/>
          </a:prstGeom>
          <a:noFill/>
          <a:ln w="6350">
            <a:solidFill>
              <a:srgbClr val="D9CFB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spc="25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 STARTUP FUNDING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955280" y="182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spc="2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A FOUNDER FIELD GUIDE / 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6350">
            <a:solidFill>
              <a:srgbClr val="D9CF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spc="2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 /  25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95528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spc="2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MODERN.STARTUP.FUNDING — INDEX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777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spc="25000" kern="0" dirty="0">
                <a:solidFill>
                  <a:srgbClr val="C57B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02  ·  ADVANTAGES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972800" y="777240"/>
            <a:ext cx="670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b="1" spc="2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§ 09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48640" y="118872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00" b="1" dirty="0">
                <a:solidFill>
                  <a:srgbClr val="C57B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</a:t>
            </a:r>
            <a:endParaRPr lang="en-US" sz="8400" dirty="0"/>
          </a:p>
        </p:txBody>
      </p:sp>
      <p:sp>
        <p:nvSpPr>
          <p:cNvPr id="11" name="Text 9"/>
          <p:cNvSpPr/>
          <p:nvPr/>
        </p:nvSpPr>
        <p:spPr>
          <a:xfrm>
            <a:off x="1463040" y="13716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00" b="1" spc="-2500" kern="0" dirty="0">
                <a:solidFill>
                  <a:srgbClr val="1F1B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Flexibility,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1463040" y="22402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00" i="1" spc="-2500" kern="0" dirty="0">
                <a:solidFill>
                  <a:srgbClr val="C57B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finally.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1463040" y="3154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4A4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convertible notes unlocked for early-stage rounds.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3611880" cy="2240280"/>
          </a:xfrm>
          <a:prstGeom prst="roundRect">
            <a:avLst>
              <a:gd name="adj" fmla="val 2449"/>
            </a:avLst>
          </a:prstGeom>
          <a:solidFill>
            <a:srgbClr val="EFE7D8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114800"/>
            <a:ext cx="777240" cy="777240"/>
          </a:xfrm>
          <a:prstGeom prst="ellipse">
            <a:avLst/>
          </a:prstGeom>
          <a:solidFill>
            <a:srgbClr val="F5DECB"/>
          </a:solidFill>
          <a:ln/>
        </p:spPr>
      </p:sp>
      <p:sp>
        <p:nvSpPr>
          <p:cNvPr id="16" name="Shape 14"/>
          <p:cNvSpPr/>
          <p:nvPr/>
        </p:nvSpPr>
        <p:spPr>
          <a:xfrm>
            <a:off x="1046988" y="4302252"/>
            <a:ext cx="329184" cy="402336"/>
          </a:xfrm>
          <a:prstGeom prst="rect">
            <a:avLst/>
          </a:prstGeom>
          <a:ln w="15875">
            <a:solidFill>
              <a:srgbClr val="4A42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20140" y="4430268"/>
            <a:ext cx="182880" cy="0"/>
          </a:xfrm>
          <a:prstGeom prst="line">
            <a:avLst/>
          </a:prstGeom>
          <a:noFill/>
          <a:ln w="9525">
            <a:solidFill>
              <a:srgbClr val="4A42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20140" y="4521708"/>
            <a:ext cx="182880" cy="0"/>
          </a:xfrm>
          <a:prstGeom prst="line">
            <a:avLst/>
          </a:prstGeom>
          <a:noFill/>
          <a:ln w="9525">
            <a:solidFill>
              <a:srgbClr val="4A42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20140" y="4613148"/>
            <a:ext cx="109728" cy="0"/>
          </a:xfrm>
          <a:prstGeom prst="line">
            <a:avLst/>
          </a:prstGeom>
          <a:noFill/>
          <a:ln w="9525">
            <a:solidFill>
              <a:srgbClr val="4A42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983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i="1" spc="-1000" kern="0" dirty="0">
                <a:solidFill>
                  <a:srgbClr val="1F1B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Document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22960" y="54864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4A4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massive preferred-stock stack streamlined down to a single document.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352544" y="3931920"/>
            <a:ext cx="3611880" cy="2240280"/>
          </a:xfrm>
          <a:prstGeom prst="roundRect">
            <a:avLst>
              <a:gd name="adj" fmla="val 2449"/>
            </a:avLst>
          </a:prstGeom>
          <a:solidFill>
            <a:srgbClr val="EFE7D8"/>
          </a:solidFill>
          <a:ln/>
        </p:spPr>
      </p:sp>
      <p:sp>
        <p:nvSpPr>
          <p:cNvPr id="23" name="Shape 21"/>
          <p:cNvSpPr/>
          <p:nvPr/>
        </p:nvSpPr>
        <p:spPr>
          <a:xfrm>
            <a:off x="4626864" y="4114800"/>
            <a:ext cx="777240" cy="777240"/>
          </a:xfrm>
          <a:prstGeom prst="ellipse">
            <a:avLst/>
          </a:prstGeom>
          <a:solidFill>
            <a:srgbClr val="D3DCCC"/>
          </a:solidFill>
          <a:ln/>
        </p:spPr>
      </p:sp>
      <p:sp>
        <p:nvSpPr>
          <p:cNvPr id="24" name="Shape 22"/>
          <p:cNvSpPr/>
          <p:nvPr/>
        </p:nvSpPr>
        <p:spPr>
          <a:xfrm>
            <a:off x="4814316" y="4302252"/>
            <a:ext cx="402336" cy="402336"/>
          </a:xfrm>
          <a:prstGeom prst="ellipse">
            <a:avLst/>
          </a:prstGeom>
          <a:ln w="15875">
            <a:solidFill>
              <a:srgbClr val="4A42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8324" y="4338828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4A4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626864" y="4983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i="1" spc="-1000" kern="0" dirty="0">
                <a:solidFill>
                  <a:srgbClr val="1F1B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 Checks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626864" y="54864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4A4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Raise $50K–$100K from individual angels — no consortium required.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156448" y="3931920"/>
            <a:ext cx="3611880" cy="2240280"/>
          </a:xfrm>
          <a:prstGeom prst="roundRect">
            <a:avLst>
              <a:gd name="adj" fmla="val 2449"/>
            </a:avLst>
          </a:prstGeom>
          <a:solidFill>
            <a:srgbClr val="EFE7D8"/>
          </a:solidFill>
          <a:ln/>
        </p:spPr>
      </p:sp>
      <p:sp>
        <p:nvSpPr>
          <p:cNvPr id="29" name="Shape 27"/>
          <p:cNvSpPr/>
          <p:nvPr/>
        </p:nvSpPr>
        <p:spPr>
          <a:xfrm>
            <a:off x="8430768" y="4114800"/>
            <a:ext cx="777240" cy="777240"/>
          </a:xfrm>
          <a:prstGeom prst="ellipse">
            <a:avLst/>
          </a:prstGeom>
          <a:solidFill>
            <a:srgbClr val="DED6E3"/>
          </a:solidFill>
          <a:ln/>
        </p:spPr>
      </p:sp>
      <p:sp>
        <p:nvSpPr>
          <p:cNvPr id="30" name="Shape 28"/>
          <p:cNvSpPr/>
          <p:nvPr/>
        </p:nvSpPr>
        <p:spPr>
          <a:xfrm>
            <a:off x="8654796" y="4302252"/>
            <a:ext cx="329184" cy="402336"/>
          </a:xfrm>
          <a:prstGeom prst="diamond">
            <a:avLst/>
          </a:prstGeom>
          <a:ln w="15875">
            <a:solidFill>
              <a:srgbClr val="4A423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782812" y="4466844"/>
            <a:ext cx="73152" cy="73152"/>
          </a:xfrm>
          <a:prstGeom prst="ellipse">
            <a:avLst/>
          </a:prstGeom>
          <a:solidFill>
            <a:srgbClr val="4A423B"/>
          </a:solidFill>
          <a:ln/>
        </p:spPr>
      </p:sp>
      <p:sp>
        <p:nvSpPr>
          <p:cNvPr id="32" name="Text 30"/>
          <p:cNvSpPr/>
          <p:nvPr/>
        </p:nvSpPr>
        <p:spPr>
          <a:xfrm>
            <a:off x="8430768" y="4983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i="1" spc="-1000" kern="0" dirty="0">
                <a:solidFill>
                  <a:srgbClr val="1F1B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Faster Capital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8430768" y="54864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4A4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 legal expense, materially faster from term sheet to bank account.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094415" cy="0"/>
          </a:xfrm>
          <a:prstGeom prst="line">
            <a:avLst/>
          </a:prstGeom>
          <a:noFill/>
          <a:ln w="6350">
            <a:solidFill>
              <a:srgbClr val="D9CFB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spc="25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 STARTUP FUNDING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955280" y="182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spc="2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A FOUNDER FIELD GUIDE / 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6350">
            <a:solidFill>
              <a:srgbClr val="D9CF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spc="2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 /  25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95528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spc="2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MODERN.STARTUP.FUNDING — INDEX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777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spc="25000" kern="0" dirty="0">
                <a:solidFill>
                  <a:srgbClr val="C57B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02  ·  THE FLAW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972800" y="777240"/>
            <a:ext cx="670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b="1" spc="2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§ 10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91440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0000" b="1" dirty="0">
                <a:solidFill>
                  <a:srgbClr val="EAC9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</a:t>
            </a:r>
            <a:endParaRPr lang="en-US" sz="20000" dirty="0"/>
          </a:p>
        </p:txBody>
      </p:sp>
      <p:sp>
        <p:nvSpPr>
          <p:cNvPr id="11" name="Text 9"/>
          <p:cNvSpPr/>
          <p:nvPr/>
        </p:nvSpPr>
        <p:spPr>
          <a:xfrm>
            <a:off x="2194560" y="1463040"/>
            <a:ext cx="9509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5000" b="1" i="1" spc="-2000" kern="0" dirty="0">
                <a:solidFill>
                  <a:srgbClr val="1F1B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Debt was the wrong</a:t>
            </a:r>
            <a:endParaRPr lang="en-US" sz="5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5000" b="1" i="1" spc="-2000" kern="0" dirty="0">
                <a:solidFill>
                  <a:srgbClr val="1F1B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framework for an equity</a:t>
            </a:r>
            <a:endParaRPr lang="en-US" sz="5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5000" b="1" i="1" spc="-2000" kern="0" dirty="0">
                <a:solidFill>
                  <a:srgbClr val="1F1B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partnership.</a:t>
            </a:r>
            <a:endParaRPr lang="en-US" sz="5000" dirty="0"/>
          </a:p>
        </p:txBody>
      </p:sp>
      <p:sp>
        <p:nvSpPr>
          <p:cNvPr id="12" name="Shape 10"/>
          <p:cNvSpPr/>
          <p:nvPr/>
        </p:nvSpPr>
        <p:spPr>
          <a:xfrm>
            <a:off x="2194560" y="4572000"/>
            <a:ext cx="1463040" cy="0"/>
          </a:xfrm>
          <a:prstGeom prst="line">
            <a:avLst/>
          </a:prstGeom>
          <a:noFill/>
          <a:ln w="19050">
            <a:solidFill>
              <a:srgbClr val="C57B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94560" y="4663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i="1" spc="5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reasons the mismatch needed fixing.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5212080"/>
            <a:ext cx="3611880" cy="0"/>
          </a:xfrm>
          <a:prstGeom prst="line">
            <a:avLst/>
          </a:prstGeom>
          <a:noFill/>
          <a:ln w="12700">
            <a:solidFill>
              <a:srgbClr val="1F1B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5303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20000" kern="0" dirty="0">
                <a:solidFill>
                  <a:srgbClr val="C57B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5577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i="1" spc="-1000" kern="0" dirty="0">
                <a:solidFill>
                  <a:srgbClr val="1F1B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Debt baggage.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48640" y="59893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4A4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Convertible notes still accrued interest and carried maturity-date pressure.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352544" y="5212080"/>
            <a:ext cx="3611880" cy="0"/>
          </a:xfrm>
          <a:prstGeom prst="line">
            <a:avLst/>
          </a:prstGeom>
          <a:noFill/>
          <a:ln w="12700">
            <a:solidFill>
              <a:srgbClr val="1F1B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52544" y="5303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20000" kern="0" dirty="0">
                <a:solidFill>
                  <a:srgbClr val="C57B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352544" y="5577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i="1" spc="-1000" kern="0" dirty="0">
                <a:solidFill>
                  <a:srgbClr val="1F1B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Wrong counterparty.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352544" y="59893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4A4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Early angels are not commercial lenders; startups are not standard borrowers.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156448" y="5212080"/>
            <a:ext cx="3611880" cy="0"/>
          </a:xfrm>
          <a:prstGeom prst="line">
            <a:avLst/>
          </a:prstGeom>
          <a:noFill/>
          <a:ln w="12700">
            <a:solidFill>
              <a:srgbClr val="1F1B1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56448" y="5303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20000" kern="0" dirty="0">
                <a:solidFill>
                  <a:srgbClr val="C57B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156448" y="5577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i="1" spc="-1000" kern="0" dirty="0">
                <a:solidFill>
                  <a:srgbClr val="1F1B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Wrong shape.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156448" y="59893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4A4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Using a debt framework to form a long-term equity partnership was structurally wrong.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094415" cy="0"/>
          </a:xfrm>
          <a:prstGeom prst="line">
            <a:avLst/>
          </a:prstGeom>
          <a:noFill/>
          <a:ln w="6350">
            <a:solidFill>
              <a:srgbClr val="D9CFB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spc="25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 STARTUP FUNDING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955280" y="182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spc="2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A FOUNDER FIELD GUIDE / 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6350">
            <a:solidFill>
              <a:srgbClr val="D9CF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spc="2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 /  25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95528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spc="2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MODERN.STARTUP.FUNDING — INDEX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777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spc="25000" kern="0" dirty="0">
                <a:solidFill>
                  <a:srgbClr val="C57B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02  ·  THE MODERN SOLUTION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972800" y="777240"/>
            <a:ext cx="670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b="1" spc="2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§ 11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48640" y="1463040"/>
            <a:ext cx="5943600" cy="4754880"/>
          </a:xfrm>
          <a:prstGeom prst="roundRect">
            <a:avLst>
              <a:gd name="adj" fmla="val 1538"/>
            </a:avLst>
          </a:prstGeom>
          <a:solidFill>
            <a:srgbClr val="1F1B17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spc="30000" kern="0" dirty="0">
                <a:solidFill>
                  <a:srgbClr val="EAC9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YC, 2013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68680" y="2286000"/>
            <a:ext cx="5486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8000" b="1" spc="-5000" kern="0" dirty="0">
                <a:solidFill>
                  <a:srgbClr val="F6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</a:t>
            </a:r>
            <a:endParaRPr lang="en-US" sz="18000" dirty="0"/>
          </a:p>
        </p:txBody>
      </p:sp>
      <p:sp>
        <p:nvSpPr>
          <p:cNvPr id="13" name="Shape 11"/>
          <p:cNvSpPr/>
          <p:nvPr/>
        </p:nvSpPr>
        <p:spPr>
          <a:xfrm>
            <a:off x="868680" y="4846320"/>
            <a:ext cx="1417320" cy="0"/>
          </a:xfrm>
          <a:prstGeom prst="line">
            <a:avLst/>
          </a:prstGeom>
          <a:noFill/>
          <a:ln w="25400">
            <a:solidFill>
              <a:srgbClr val="EAC9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98348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i="1" dirty="0">
                <a:solidFill>
                  <a:srgbClr val="F6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Agreement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i="1" dirty="0">
                <a:solidFill>
                  <a:srgbClr val="F6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Future Equity.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858000" y="1645920"/>
            <a:ext cx="777240" cy="777240"/>
          </a:xfrm>
          <a:prstGeom prst="ellipse">
            <a:avLst/>
          </a:prstGeom>
          <a:solidFill>
            <a:srgbClr val="F5DECB"/>
          </a:solidFill>
          <a:ln/>
        </p:spPr>
      </p:sp>
      <p:sp>
        <p:nvSpPr>
          <p:cNvPr id="16" name="Shape 14"/>
          <p:cNvSpPr/>
          <p:nvPr/>
        </p:nvSpPr>
        <p:spPr>
          <a:xfrm>
            <a:off x="7082028" y="1833372"/>
            <a:ext cx="329184" cy="402336"/>
          </a:xfrm>
          <a:prstGeom prst="rect">
            <a:avLst/>
          </a:prstGeom>
          <a:ln w="15875">
            <a:solidFill>
              <a:srgbClr val="4A42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55180" y="1961388"/>
            <a:ext cx="182880" cy="0"/>
          </a:xfrm>
          <a:prstGeom prst="line">
            <a:avLst/>
          </a:prstGeom>
          <a:noFill/>
          <a:ln w="9525">
            <a:solidFill>
              <a:srgbClr val="4A42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55180" y="2052828"/>
            <a:ext cx="182880" cy="0"/>
          </a:xfrm>
          <a:prstGeom prst="line">
            <a:avLst/>
          </a:prstGeom>
          <a:noFill/>
          <a:ln w="9525">
            <a:solidFill>
              <a:srgbClr val="4A42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55180" y="2144268"/>
            <a:ext cx="109728" cy="0"/>
          </a:xfrm>
          <a:prstGeom prst="line">
            <a:avLst/>
          </a:prstGeom>
          <a:noFill/>
          <a:ln w="9525">
            <a:solidFill>
              <a:srgbClr val="4A42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0" y="16459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spc="25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01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72400" y="192024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1F1B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Designed by Y Combinator to keep the convenience of convertibles while removing all debt.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58000" y="2971800"/>
            <a:ext cx="4754880" cy="0"/>
          </a:xfrm>
          <a:prstGeom prst="line">
            <a:avLst/>
          </a:prstGeom>
          <a:noFill/>
          <a:ln w="6350">
            <a:solidFill>
              <a:srgbClr val="D9CFB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0" y="3246120"/>
            <a:ext cx="777240" cy="777240"/>
          </a:xfrm>
          <a:prstGeom prst="ellipse">
            <a:avLst/>
          </a:prstGeom>
          <a:solidFill>
            <a:srgbClr val="D3DCCC"/>
          </a:solidFill>
          <a:ln/>
        </p:spPr>
      </p:sp>
      <p:sp>
        <p:nvSpPr>
          <p:cNvPr id="24" name="Shape 22"/>
          <p:cNvSpPr/>
          <p:nvPr/>
        </p:nvSpPr>
        <p:spPr>
          <a:xfrm>
            <a:off x="7100316" y="3634740"/>
            <a:ext cx="109728" cy="128016"/>
          </a:xfrm>
          <a:prstGeom prst="line">
            <a:avLst/>
          </a:prstGeom>
          <a:noFill/>
          <a:ln w="19050">
            <a:solidFill>
              <a:srgbClr val="4A423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10044" y="3762756"/>
            <a:ext cx="201168" cy="-237744"/>
          </a:xfrm>
          <a:prstGeom prst="line">
            <a:avLst/>
          </a:prstGeom>
          <a:noFill/>
          <a:ln w="19050">
            <a:solidFill>
              <a:srgbClr val="4A42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461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spc="25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02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772400" y="352044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1F1B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right to receive stock in the future when the company raises a priced round.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858000" y="4572000"/>
            <a:ext cx="4754880" cy="0"/>
          </a:xfrm>
          <a:prstGeom prst="line">
            <a:avLst/>
          </a:prstGeom>
          <a:noFill/>
          <a:ln w="6350">
            <a:solidFill>
              <a:srgbClr val="D9CFB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58000" y="4846320"/>
            <a:ext cx="777240" cy="777240"/>
          </a:xfrm>
          <a:prstGeom prst="ellipse">
            <a:avLst/>
          </a:prstGeom>
          <a:solidFill>
            <a:srgbClr val="DED6E3"/>
          </a:solidFill>
          <a:ln/>
        </p:spPr>
      </p:sp>
      <p:sp>
        <p:nvSpPr>
          <p:cNvPr id="30" name="Shape 28"/>
          <p:cNvSpPr/>
          <p:nvPr/>
        </p:nvSpPr>
        <p:spPr>
          <a:xfrm>
            <a:off x="7045452" y="5070348"/>
            <a:ext cx="402336" cy="91440"/>
          </a:xfrm>
          <a:prstGeom prst="rect">
            <a:avLst/>
          </a:prstGeom>
          <a:ln w="9525">
            <a:solidFill>
              <a:srgbClr val="4A423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45452" y="5189220"/>
            <a:ext cx="402336" cy="91440"/>
          </a:xfrm>
          <a:prstGeom prst="rect">
            <a:avLst/>
          </a:prstGeom>
          <a:ln w="9525">
            <a:solidFill>
              <a:srgbClr val="4A423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045452" y="5308092"/>
            <a:ext cx="402336" cy="91440"/>
          </a:xfrm>
          <a:prstGeom prst="rect">
            <a:avLst/>
          </a:prstGeom>
          <a:ln w="9525">
            <a:solidFill>
              <a:srgbClr val="4A423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spc="25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03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772400" y="512064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1F1B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concise ~5-page document with public user guide and math examples — usable without lawyers.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094415" cy="0"/>
          </a:xfrm>
          <a:prstGeom prst="line">
            <a:avLst/>
          </a:prstGeom>
          <a:noFill/>
          <a:ln w="6350">
            <a:solidFill>
              <a:srgbClr val="D9CFB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spc="25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 STARTUP FUNDING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955280" y="182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spc="2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A FOUNDER FIELD GUIDE / 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6350">
            <a:solidFill>
              <a:srgbClr val="D9CF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spc="2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 /  25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95528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spc="2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MODERN.STARTUP.FUNDING — INDEX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777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spc="25000" kern="0" dirty="0">
                <a:solidFill>
                  <a:srgbClr val="C57B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02  ·  CORE DISTINCTIONS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972800" y="777240"/>
            <a:ext cx="670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b="1" spc="2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§ 12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48640" y="137160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spc="-2000" kern="0" dirty="0">
                <a:solidFill>
                  <a:srgbClr val="1F1B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the SAFE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548640" y="214884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i="1" spc="-2000" kern="0" dirty="0">
                <a:solidFill>
                  <a:srgbClr val="C57B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restructures the game.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548640" y="3337560"/>
            <a:ext cx="5577840" cy="1325880"/>
          </a:xfrm>
          <a:prstGeom prst="roundRect">
            <a:avLst>
              <a:gd name="adj" fmla="val 4138"/>
            </a:avLst>
          </a:prstGeom>
          <a:solidFill>
            <a:srgbClr val="F5DECB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4747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2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370332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1F1B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1554480" y="37490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i="1" spc="-1000" kern="0" dirty="0">
                <a:solidFill>
                  <a:srgbClr val="1F1B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Interest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554480" y="42062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A4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accruing interest rate over time.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91072" y="3337560"/>
            <a:ext cx="5577840" cy="1325880"/>
          </a:xfrm>
          <a:prstGeom prst="roundRect">
            <a:avLst>
              <a:gd name="adj" fmla="val 4138"/>
            </a:avLst>
          </a:prstGeom>
          <a:solidFill>
            <a:srgbClr val="D3DCCC"/>
          </a:solidFill>
          <a:ln/>
        </p:spPr>
      </p:sp>
      <p:sp>
        <p:nvSpPr>
          <p:cNvPr id="18" name="Text 16"/>
          <p:cNvSpPr/>
          <p:nvPr/>
        </p:nvSpPr>
        <p:spPr>
          <a:xfrm>
            <a:off x="6565392" y="34747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2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65392" y="370332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1F1B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7296912" y="37490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i="1" spc="-1000" kern="0" dirty="0">
                <a:solidFill>
                  <a:srgbClr val="1F1B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Maturity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296912" y="42062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A4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maturity date. No existential risk of forced repayment.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4800600"/>
            <a:ext cx="5577840" cy="1325880"/>
          </a:xfrm>
          <a:prstGeom prst="roundRect">
            <a:avLst>
              <a:gd name="adj" fmla="val 4138"/>
            </a:avLst>
          </a:prstGeom>
          <a:solidFill>
            <a:srgbClr val="DED6E3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937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2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" y="516636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1F1B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</a:t>
            </a:r>
            <a:endParaRPr lang="en-US" sz="4800" dirty="0"/>
          </a:p>
        </p:txBody>
      </p:sp>
      <p:sp>
        <p:nvSpPr>
          <p:cNvPr id="25" name="Text 23"/>
          <p:cNvSpPr/>
          <p:nvPr/>
        </p:nvSpPr>
        <p:spPr>
          <a:xfrm>
            <a:off x="1554480" y="52120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i="1" spc="-1000" kern="0" dirty="0">
                <a:solidFill>
                  <a:srgbClr val="1F1B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1554480" y="56692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A4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Valuation cap is often the only term to negotiate.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91072" y="4800600"/>
            <a:ext cx="5577840" cy="1325880"/>
          </a:xfrm>
          <a:prstGeom prst="roundRect">
            <a:avLst>
              <a:gd name="adj" fmla="val 4138"/>
            </a:avLst>
          </a:prstGeom>
          <a:solidFill>
            <a:srgbClr val="EFE7D8"/>
          </a:solidFill>
          <a:ln/>
        </p:spPr>
      </p:sp>
      <p:sp>
        <p:nvSpPr>
          <p:cNvPr id="28" name="Text 26"/>
          <p:cNvSpPr/>
          <p:nvPr/>
        </p:nvSpPr>
        <p:spPr>
          <a:xfrm>
            <a:off x="6565392" y="4937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2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565392" y="516636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1F1B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</a:t>
            </a:r>
            <a:endParaRPr lang="en-US" sz="4800" dirty="0"/>
          </a:p>
        </p:txBody>
      </p:sp>
      <p:sp>
        <p:nvSpPr>
          <p:cNvPr id="30" name="Text 28"/>
          <p:cNvSpPr/>
          <p:nvPr/>
        </p:nvSpPr>
        <p:spPr>
          <a:xfrm>
            <a:off x="7296912" y="52120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i="1" spc="-1000" kern="0" dirty="0">
                <a:solidFill>
                  <a:srgbClr val="1F1B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No-Cap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7296912" y="56692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A4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YC also ships a cap-less SAFE — skip valuation negotiation entirely.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F1B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1B17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6350">
            <a:solidFill>
              <a:srgbClr val="3A33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spc="20000" kern="0" dirty="0">
                <a:solidFill>
                  <a:srgbClr val="A89B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 /  25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95528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b="1" spc="20000" kern="0" dirty="0">
                <a:solidFill>
                  <a:srgbClr val="A89B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THREE — BENEFITS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457200"/>
            <a:ext cx="11094415" cy="0"/>
          </a:xfrm>
          <a:prstGeom prst="line">
            <a:avLst/>
          </a:prstGeom>
          <a:noFill/>
          <a:ln w="6350">
            <a:solidFill>
              <a:srgbClr val="3A33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2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spc="25000" kern="0" dirty="0">
                <a:solidFill>
                  <a:srgbClr val="A89B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 STARTUP FUNDING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955280" y="182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spc="20000" kern="0" dirty="0">
                <a:solidFill>
                  <a:srgbClr val="A89B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A FOUNDER FIELD GUIDE / 2026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8640" y="137160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000" b="1" spc="-4000" kern="0" dirty="0">
                <a:solidFill>
                  <a:srgbClr val="C9BF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28000" dirty="0"/>
          </a:p>
        </p:txBody>
      </p:sp>
      <p:sp>
        <p:nvSpPr>
          <p:cNvPr id="10" name="Text 8"/>
          <p:cNvSpPr/>
          <p:nvPr/>
        </p:nvSpPr>
        <p:spPr>
          <a:xfrm>
            <a:off x="6583680" y="1554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spc="30000" kern="0" dirty="0">
                <a:solidFill>
                  <a:srgbClr val="C9BF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PART THREE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583680" y="1920240"/>
            <a:ext cx="5303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spc="-2000" kern="0" dirty="0">
                <a:solidFill>
                  <a:srgbClr val="F6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Benefits of</a:t>
            </a:r>
            <a:endParaRPr lang="en-US" sz="4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400" b="1" spc="-2000" kern="0" dirty="0">
                <a:solidFill>
                  <a:srgbClr val="F6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 Financing</a:t>
            </a:r>
            <a:endParaRPr lang="en-US" sz="4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400" b="1" spc="-2000" kern="0" dirty="0">
                <a:solidFill>
                  <a:srgbClr val="F6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&amp; Priced Rounds.</a:t>
            </a:r>
            <a:endParaRPr lang="en-US" sz="4400" dirty="0"/>
          </a:p>
        </p:txBody>
      </p:sp>
      <p:sp>
        <p:nvSpPr>
          <p:cNvPr id="12" name="Shape 10"/>
          <p:cNvSpPr/>
          <p:nvPr/>
        </p:nvSpPr>
        <p:spPr>
          <a:xfrm>
            <a:off x="6583680" y="4754880"/>
            <a:ext cx="1645920" cy="0"/>
          </a:xfrm>
          <a:prstGeom prst="line">
            <a:avLst/>
          </a:prstGeom>
          <a:noFill/>
          <a:ln w="19050">
            <a:solidFill>
              <a:srgbClr val="C9BF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493776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i="1" dirty="0">
                <a:solidFill>
                  <a:srgbClr val="D9CF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Software got cheaper, documents got faster,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i="1" dirty="0">
                <a:solidFill>
                  <a:srgbClr val="D9CF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founders got their focus back.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094415" cy="0"/>
          </a:xfrm>
          <a:prstGeom prst="line">
            <a:avLst/>
          </a:prstGeom>
          <a:noFill/>
          <a:ln w="6350">
            <a:solidFill>
              <a:srgbClr val="D9CFB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spc="25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 STARTUP FUNDING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955280" y="182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spc="2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A FOUNDER FIELD GUIDE / 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6350">
            <a:solidFill>
              <a:srgbClr val="D9CF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spc="2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  /  25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95528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spc="2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MODERN.STARTUP.FUNDING — INDEX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777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spc="25000" kern="0" dirty="0">
                <a:solidFill>
                  <a:srgbClr val="C57B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03  ·  THE SHIFT IN COSTS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972800" y="777240"/>
            <a:ext cx="670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b="1" spc="2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§ 13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48640" y="10058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i="1" spc="1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economics.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554480"/>
            <a:ext cx="5577840" cy="4297680"/>
          </a:xfrm>
          <a:prstGeom prst="roundRect">
            <a:avLst>
              <a:gd name="adj" fmla="val 1702"/>
            </a:avLst>
          </a:prstGeom>
          <a:solidFill>
            <a:srgbClr val="EFE7D8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3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22960" y="2103120"/>
            <a:ext cx="822960" cy="0"/>
          </a:xfrm>
          <a:prstGeom prst="line">
            <a:avLst/>
          </a:prstGeom>
          <a:noFill/>
          <a:ln w="12700">
            <a:solidFill>
              <a:srgbClr val="1F1B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33172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0" b="1" spc="-3000" kern="0" dirty="0">
                <a:solidFill>
                  <a:srgbClr val="1F1B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$1.5–2M</a:t>
            </a:r>
            <a:endParaRPr lang="en-US" sz="8000" dirty="0"/>
          </a:p>
        </p:txBody>
      </p:sp>
      <p:sp>
        <p:nvSpPr>
          <p:cNvPr id="15" name="Text 13"/>
          <p:cNvSpPr/>
          <p:nvPr/>
        </p:nvSpPr>
        <p:spPr>
          <a:xfrm>
            <a:off x="822960" y="3657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4A4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launch a software startup on day one.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4206240"/>
            <a:ext cx="4480560" cy="0"/>
          </a:xfrm>
          <a:prstGeom prst="line">
            <a:avLst/>
          </a:prstGeom>
          <a:noFill/>
          <a:ln w="6350">
            <a:solidFill>
              <a:srgbClr val="D9CFB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34340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4A4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 software &amp; e-commerce startups no longer need a million-dollar Series Day-One.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336792" y="1554480"/>
            <a:ext cx="5303520" cy="4297680"/>
          </a:xfrm>
          <a:prstGeom prst="roundRect">
            <a:avLst>
              <a:gd name="adj" fmla="val 1702"/>
            </a:avLst>
          </a:prstGeom>
          <a:solidFill>
            <a:srgbClr val="C57B57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30000" kern="0" dirty="0">
                <a:solidFill>
                  <a:srgbClr val="F6E5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NOW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583680" y="2103120"/>
            <a:ext cx="822960" cy="0"/>
          </a:xfrm>
          <a:prstGeom prst="line">
            <a:avLst/>
          </a:prstGeom>
          <a:noFill/>
          <a:ln w="12700">
            <a:solidFill>
              <a:srgbClr val="F6E5D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233172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0" b="1" i="1" spc="-3000" kern="0" dirty="0">
                <a:solidFill>
                  <a:srgbClr val="F6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Far less.</a:t>
            </a:r>
            <a:endParaRPr lang="en-US" sz="8000" dirty="0"/>
          </a:p>
        </p:txBody>
      </p:sp>
      <p:sp>
        <p:nvSpPr>
          <p:cNvPr id="22" name="Text 20"/>
          <p:cNvSpPr/>
          <p:nvPr/>
        </p:nvSpPr>
        <p:spPr>
          <a:xfrm>
            <a:off x="6583680" y="3657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F6E5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capital aligned to short development iterations.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83680" y="4206240"/>
            <a:ext cx="4782312" cy="0"/>
          </a:xfrm>
          <a:prstGeom prst="line">
            <a:avLst/>
          </a:prstGeom>
          <a:noFill/>
          <a:ln w="6350">
            <a:solidFill>
              <a:srgbClr val="F6E5D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0" y="43434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F6E5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Streamlined convertibles let the inflow of capital match the actual financial needs of each sprint.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6080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spc="3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THE INFLECTION POINT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094415" cy="0"/>
          </a:xfrm>
          <a:prstGeom prst="line">
            <a:avLst/>
          </a:prstGeom>
          <a:noFill/>
          <a:ln w="6350">
            <a:solidFill>
              <a:srgbClr val="D9CFB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spc="25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 STARTUP FUNDING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955280" y="182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spc="2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A FOUNDER FIELD GUIDE / 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6350">
            <a:solidFill>
              <a:srgbClr val="D9CF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spc="2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 /  25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95528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spc="2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MODERN.STARTUP.FUNDING — INDEX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777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spc="25000" kern="0" dirty="0">
                <a:solidFill>
                  <a:srgbClr val="C57B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03  ·  ACCESS &amp; STANDARDISATION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972800" y="777240"/>
            <a:ext cx="670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b="1" spc="2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§ 14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48640" y="137160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200" b="1" spc="-2500" kern="0" dirty="0">
                <a:solidFill>
                  <a:srgbClr val="1F1B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Democratising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548640" y="219456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200" i="1" spc="-2500" kern="0" dirty="0">
                <a:solidFill>
                  <a:srgbClr val="C57B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fundraising documents.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3611880" cy="2651760"/>
          </a:xfrm>
          <a:prstGeom prst="roundRect">
            <a:avLst>
              <a:gd name="adj" fmla="val 2069"/>
            </a:avLst>
          </a:prstGeom>
          <a:solidFill>
            <a:srgbClr val="EFE7D8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3703320"/>
            <a:ext cx="777240" cy="777240"/>
          </a:xfrm>
          <a:prstGeom prst="ellipse">
            <a:avLst/>
          </a:prstGeom>
          <a:solidFill>
            <a:srgbClr val="F5DECB"/>
          </a:solidFill>
          <a:ln/>
        </p:spPr>
      </p:sp>
      <p:sp>
        <p:nvSpPr>
          <p:cNvPr id="14" name="Shape 12"/>
          <p:cNvSpPr/>
          <p:nvPr/>
        </p:nvSpPr>
        <p:spPr>
          <a:xfrm>
            <a:off x="1046988" y="3890772"/>
            <a:ext cx="329184" cy="402336"/>
          </a:xfrm>
          <a:prstGeom prst="rect">
            <a:avLst/>
          </a:prstGeom>
          <a:ln w="15875">
            <a:solidFill>
              <a:srgbClr val="4A42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0140" y="4018788"/>
            <a:ext cx="182880" cy="0"/>
          </a:xfrm>
          <a:prstGeom prst="line">
            <a:avLst/>
          </a:prstGeom>
          <a:noFill/>
          <a:ln w="9525">
            <a:solidFill>
              <a:srgbClr val="4A42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20140" y="4110228"/>
            <a:ext cx="182880" cy="0"/>
          </a:xfrm>
          <a:prstGeom prst="line">
            <a:avLst/>
          </a:prstGeom>
          <a:noFill/>
          <a:ln w="9525">
            <a:solidFill>
              <a:srgbClr val="4A42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20140" y="4201668"/>
            <a:ext cx="109728" cy="0"/>
          </a:xfrm>
          <a:prstGeom prst="line">
            <a:avLst/>
          </a:prstGeom>
          <a:noFill/>
          <a:ln w="9525">
            <a:solidFill>
              <a:srgbClr val="4A42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66160" y="37490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spc="2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" y="4617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i="1" spc="-1000" kern="0" dirty="0">
                <a:solidFill>
                  <a:srgbClr val="1F1B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access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22960" y="5120640"/>
            <a:ext cx="1097280" cy="0"/>
          </a:xfrm>
          <a:prstGeom prst="line">
            <a:avLst/>
          </a:prstGeom>
          <a:noFill/>
          <a:ln w="12700">
            <a:solidFill>
              <a:srgbClr val="C57B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2578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4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Proper documents live on the internet — no longer gated behind expensive firms.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352544" y="3520440"/>
            <a:ext cx="3611880" cy="2651760"/>
          </a:xfrm>
          <a:prstGeom prst="roundRect">
            <a:avLst>
              <a:gd name="adj" fmla="val 2069"/>
            </a:avLst>
          </a:prstGeom>
          <a:solidFill>
            <a:srgbClr val="EFE7D8"/>
          </a:solidFill>
          <a:ln/>
        </p:spPr>
      </p:sp>
      <p:sp>
        <p:nvSpPr>
          <p:cNvPr id="23" name="Shape 21"/>
          <p:cNvSpPr/>
          <p:nvPr/>
        </p:nvSpPr>
        <p:spPr>
          <a:xfrm>
            <a:off x="4626864" y="3703320"/>
            <a:ext cx="777240" cy="777240"/>
          </a:xfrm>
          <a:prstGeom prst="ellipse">
            <a:avLst/>
          </a:prstGeom>
          <a:solidFill>
            <a:srgbClr val="D3DCCC"/>
          </a:solidFill>
          <a:ln/>
        </p:spPr>
      </p:sp>
      <p:sp>
        <p:nvSpPr>
          <p:cNvPr id="24" name="Shape 22"/>
          <p:cNvSpPr/>
          <p:nvPr/>
        </p:nvSpPr>
        <p:spPr>
          <a:xfrm>
            <a:off x="4850892" y="3890772"/>
            <a:ext cx="329184" cy="402336"/>
          </a:xfrm>
          <a:prstGeom prst="diamond">
            <a:avLst/>
          </a:prstGeom>
          <a:ln w="15875">
            <a:solidFill>
              <a:srgbClr val="4A423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78908" y="4055364"/>
            <a:ext cx="73152" cy="73152"/>
          </a:xfrm>
          <a:prstGeom prst="ellipse">
            <a:avLst/>
          </a:prstGeom>
          <a:solidFill>
            <a:srgbClr val="4A423B"/>
          </a:solidFill>
          <a:ln/>
        </p:spPr>
      </p:sp>
      <p:sp>
        <p:nvSpPr>
          <p:cNvPr id="26" name="Text 24"/>
          <p:cNvSpPr/>
          <p:nvPr/>
        </p:nvSpPr>
        <p:spPr>
          <a:xfrm>
            <a:off x="7370064" y="37490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spc="2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26864" y="4617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i="1" spc="-1000" kern="0" dirty="0">
                <a:solidFill>
                  <a:srgbClr val="1F1B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Electronic close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4626864" y="5120640"/>
            <a:ext cx="1097280" cy="0"/>
          </a:xfrm>
          <a:prstGeom prst="line">
            <a:avLst/>
          </a:prstGeom>
          <a:noFill/>
          <a:ln w="12700">
            <a:solidFill>
              <a:srgbClr val="C57B5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26864" y="52578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4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Deals execute rapidly through e-signature platforms.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156448" y="3520440"/>
            <a:ext cx="3611880" cy="2651760"/>
          </a:xfrm>
          <a:prstGeom prst="roundRect">
            <a:avLst>
              <a:gd name="adj" fmla="val 2069"/>
            </a:avLst>
          </a:prstGeom>
          <a:solidFill>
            <a:srgbClr val="EFE7D8"/>
          </a:solidFill>
          <a:ln/>
        </p:spPr>
      </p:sp>
      <p:sp>
        <p:nvSpPr>
          <p:cNvPr id="31" name="Shape 29"/>
          <p:cNvSpPr/>
          <p:nvPr/>
        </p:nvSpPr>
        <p:spPr>
          <a:xfrm>
            <a:off x="8430768" y="3703320"/>
            <a:ext cx="777240" cy="777240"/>
          </a:xfrm>
          <a:prstGeom prst="ellipse">
            <a:avLst/>
          </a:prstGeom>
          <a:solidFill>
            <a:srgbClr val="DED6E3"/>
          </a:solidFill>
          <a:ln/>
        </p:spPr>
      </p:sp>
      <p:sp>
        <p:nvSpPr>
          <p:cNvPr id="32" name="Shape 30"/>
          <p:cNvSpPr/>
          <p:nvPr/>
        </p:nvSpPr>
        <p:spPr>
          <a:xfrm>
            <a:off x="8618220" y="3927348"/>
            <a:ext cx="402336" cy="91440"/>
          </a:xfrm>
          <a:prstGeom prst="rect">
            <a:avLst/>
          </a:prstGeom>
          <a:ln w="9525">
            <a:solidFill>
              <a:srgbClr val="4A423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618220" y="4046220"/>
            <a:ext cx="402336" cy="91440"/>
          </a:xfrm>
          <a:prstGeom prst="rect">
            <a:avLst/>
          </a:prstGeom>
          <a:ln w="9525">
            <a:solidFill>
              <a:srgbClr val="4A423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618220" y="4165092"/>
            <a:ext cx="402336" cy="91440"/>
          </a:xfrm>
          <a:prstGeom prst="rect">
            <a:avLst/>
          </a:prstGeom>
          <a:ln w="9525">
            <a:solidFill>
              <a:srgbClr val="4A423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173968" y="37490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spc="2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430768" y="4617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i="1" spc="-1000" kern="0" dirty="0">
                <a:solidFill>
                  <a:srgbClr val="1F1B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Standardised mechanics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8430768" y="5120640"/>
            <a:ext cx="1097280" cy="0"/>
          </a:xfrm>
          <a:prstGeom prst="line">
            <a:avLst/>
          </a:prstGeom>
          <a:noFill/>
          <a:ln w="12700">
            <a:solidFill>
              <a:srgbClr val="C57B5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30768" y="52578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4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Both sides stop rewriting structure — focus on the few real economic terms.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094415" cy="0"/>
          </a:xfrm>
          <a:prstGeom prst="line">
            <a:avLst/>
          </a:prstGeom>
          <a:noFill/>
          <a:ln w="6350">
            <a:solidFill>
              <a:srgbClr val="D9CFB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spc="25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 STARTUP FUNDING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955280" y="182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spc="2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A FOUNDER FIELD GUIDE / 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6350">
            <a:solidFill>
              <a:srgbClr val="D9CF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spc="2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  /  25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95528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spc="2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MODERN.STARTUP.FUNDING — INDEX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777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spc="25000" kern="0" dirty="0">
                <a:solidFill>
                  <a:srgbClr val="C57B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03  ·  THE TRUE OBJECTIVE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972800" y="777240"/>
            <a:ext cx="670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b="1" spc="2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§ 15</a:t>
            </a:r>
            <a:endParaRPr lang="en-US" sz="8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63040"/>
            <a:ext cx="5029200" cy="47548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48640" y="5760720"/>
            <a:ext cx="5029200" cy="45720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5852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spc="300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FIG. 06 — TIME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035040" y="155448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00" b="1" spc="-2500" kern="0" dirty="0">
                <a:solidFill>
                  <a:srgbClr val="1F1B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founder’s</a:t>
            </a:r>
            <a:endParaRPr lang="en-US" sz="5600" dirty="0"/>
          </a:p>
        </p:txBody>
      </p:sp>
      <p:sp>
        <p:nvSpPr>
          <p:cNvPr id="14" name="Text 11"/>
          <p:cNvSpPr/>
          <p:nvPr/>
        </p:nvSpPr>
        <p:spPr>
          <a:xfrm>
            <a:off x="6035040" y="242316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00" b="1" spc="-2500" kern="0" dirty="0">
                <a:solidFill>
                  <a:srgbClr val="1F1B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scarce</a:t>
            </a:r>
            <a:endParaRPr lang="en-US" sz="5600" dirty="0"/>
          </a:p>
        </p:txBody>
      </p:sp>
      <p:sp>
        <p:nvSpPr>
          <p:cNvPr id="15" name="Text 12"/>
          <p:cNvSpPr/>
          <p:nvPr/>
        </p:nvSpPr>
        <p:spPr>
          <a:xfrm>
            <a:off x="6035040" y="329184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00" i="1" spc="-2500" kern="0" dirty="0">
                <a:solidFill>
                  <a:srgbClr val="C57B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resource.</a:t>
            </a:r>
            <a:endParaRPr lang="en-US" sz="5600" dirty="0"/>
          </a:p>
        </p:txBody>
      </p:sp>
      <p:sp>
        <p:nvSpPr>
          <p:cNvPr id="16" name="Shape 13"/>
          <p:cNvSpPr/>
          <p:nvPr/>
        </p:nvSpPr>
        <p:spPr>
          <a:xfrm>
            <a:off x="6035040" y="4434840"/>
            <a:ext cx="1828800" cy="0"/>
          </a:xfrm>
          <a:prstGeom prst="line">
            <a:avLst/>
          </a:prstGeom>
          <a:noFill/>
          <a:ln w="19050">
            <a:solidFill>
              <a:srgbClr val="C57B5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35040" y="46177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C57B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355080" y="4636008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4A4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Dragged-out fundraises crush product velocity and market momentum.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6035040" y="5120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C57B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355080" y="5138928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4A4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 investors and founders agree: complete it as fast as possible.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6035040" y="56235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C57B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355080" y="5641848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4A4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Money in the bank means 100% of attention returns to building.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094415" cy="0"/>
          </a:xfrm>
          <a:prstGeom prst="line">
            <a:avLst/>
          </a:prstGeom>
          <a:noFill/>
          <a:ln w="6350">
            <a:solidFill>
              <a:srgbClr val="D9CFB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spc="25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 STARTUP FUNDING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955280" y="182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spc="2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A FOUNDER FIELD GUIDE / 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6350">
            <a:solidFill>
              <a:srgbClr val="D9CF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spc="2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  /  25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95528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spc="2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MODERN.STARTUP.FUNDING — INDEX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777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spc="25000" kern="0" dirty="0">
                <a:solidFill>
                  <a:srgbClr val="C57B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03  ·  STATUS OF PRICED ROUNDS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972800" y="777240"/>
            <a:ext cx="670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b="1" spc="2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§ 16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48640" y="137160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spc="-2000" kern="0" dirty="0">
                <a:solidFill>
                  <a:srgbClr val="1F1B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priced rounds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548640" y="214884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i="1" spc="-2000" kern="0" dirty="0">
                <a:solidFill>
                  <a:srgbClr val="C57B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fit in the modern pipeline.</a:t>
            </a:r>
            <a:endParaRPr lang="en-US" sz="440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3611880" cy="2286000"/>
          </a:xfrm>
          <a:prstGeom prst="roundRect">
            <a:avLst>
              <a:gd name="adj" fmla="val 2400"/>
            </a:avLst>
          </a:prstGeom>
          <a:solidFill>
            <a:srgbClr val="F5DECB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429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spc="25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STAGE 01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22960" y="3749040"/>
            <a:ext cx="640080" cy="0"/>
          </a:xfrm>
          <a:prstGeom prst="line">
            <a:avLst/>
          </a:prstGeom>
          <a:noFill/>
          <a:ln w="12700">
            <a:solidFill>
              <a:srgbClr val="1F1B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886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i="1" spc="-1000" kern="0" dirty="0">
                <a:solidFill>
                  <a:srgbClr val="1F1B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 / Convertible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22960" y="44348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F1B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$50K–$500K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22960" y="5029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4A4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angels &amp; pre-seed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206240" y="4389120"/>
            <a:ext cx="91440" cy="0"/>
          </a:xfrm>
          <a:prstGeom prst="line">
            <a:avLst/>
          </a:prstGeom>
          <a:noFill/>
          <a:ln w="12700">
            <a:solidFill>
              <a:srgbClr val="8A7F7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42816" y="4334256"/>
            <a:ext cx="54864" cy="54864"/>
          </a:xfrm>
          <a:prstGeom prst="line">
            <a:avLst/>
          </a:prstGeom>
          <a:noFill/>
          <a:ln w="12700">
            <a:solidFill>
              <a:srgbClr val="8A7F7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42816" y="4443984"/>
            <a:ext cx="54864" cy="-54864"/>
          </a:xfrm>
          <a:prstGeom prst="line">
            <a:avLst/>
          </a:prstGeom>
          <a:noFill/>
          <a:ln w="12700">
            <a:solidFill>
              <a:srgbClr val="8A7F7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52544" y="3246120"/>
            <a:ext cx="3611880" cy="2286000"/>
          </a:xfrm>
          <a:prstGeom prst="roundRect">
            <a:avLst>
              <a:gd name="adj" fmla="val 2400"/>
            </a:avLst>
          </a:prstGeom>
          <a:solidFill>
            <a:srgbClr val="D3DCCC"/>
          </a:solidFill>
          <a:ln/>
        </p:spPr>
      </p:sp>
      <p:sp>
        <p:nvSpPr>
          <p:cNvPr id="22" name="Text 20"/>
          <p:cNvSpPr/>
          <p:nvPr/>
        </p:nvSpPr>
        <p:spPr>
          <a:xfrm>
            <a:off x="4626864" y="3429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spc="25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STAGE 02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26864" y="3749040"/>
            <a:ext cx="640080" cy="0"/>
          </a:xfrm>
          <a:prstGeom prst="line">
            <a:avLst/>
          </a:prstGeom>
          <a:noFill/>
          <a:ln w="12700">
            <a:solidFill>
              <a:srgbClr val="1F1B1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26864" y="3886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i="1" spc="-1000" kern="0" dirty="0">
                <a:solidFill>
                  <a:srgbClr val="1F1B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 / Seed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626864" y="44348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F1B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$1M–$3M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4626864" y="5029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4A4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seed funds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010144" y="4389120"/>
            <a:ext cx="91440" cy="0"/>
          </a:xfrm>
          <a:prstGeom prst="line">
            <a:avLst/>
          </a:prstGeom>
          <a:noFill/>
          <a:ln w="12700">
            <a:solidFill>
              <a:srgbClr val="8A7F7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46720" y="4334256"/>
            <a:ext cx="54864" cy="54864"/>
          </a:xfrm>
          <a:prstGeom prst="line">
            <a:avLst/>
          </a:prstGeom>
          <a:noFill/>
          <a:ln w="12700">
            <a:solidFill>
              <a:srgbClr val="8A7F7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46720" y="4443984"/>
            <a:ext cx="54864" cy="-54864"/>
          </a:xfrm>
          <a:prstGeom prst="line">
            <a:avLst/>
          </a:prstGeom>
          <a:noFill/>
          <a:ln w="12700">
            <a:solidFill>
              <a:srgbClr val="8A7F7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56448" y="3246120"/>
            <a:ext cx="3611880" cy="2286000"/>
          </a:xfrm>
          <a:prstGeom prst="roundRect">
            <a:avLst>
              <a:gd name="adj" fmla="val 2400"/>
            </a:avLst>
          </a:prstGeom>
          <a:solidFill>
            <a:srgbClr val="DED6E3"/>
          </a:solidFill>
          <a:ln/>
        </p:spPr>
      </p:sp>
      <p:sp>
        <p:nvSpPr>
          <p:cNvPr id="31" name="Text 29"/>
          <p:cNvSpPr/>
          <p:nvPr/>
        </p:nvSpPr>
        <p:spPr>
          <a:xfrm>
            <a:off x="8430768" y="3429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spc="25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STAGE 03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430768" y="3749040"/>
            <a:ext cx="640080" cy="0"/>
          </a:xfrm>
          <a:prstGeom prst="line">
            <a:avLst/>
          </a:prstGeom>
          <a:noFill/>
          <a:ln w="12700">
            <a:solidFill>
              <a:srgbClr val="1F1B1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30768" y="3886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i="1" spc="-1000" kern="0" dirty="0">
                <a:solidFill>
                  <a:srgbClr val="1F1B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Priced Round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8430768" y="44348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F1B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Series A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8430768" y="5029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4A4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institutional VC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48640" y="57150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4A4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Priced rounds didn’t disappear — they shifted from being the first event to the second or third.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48640" y="6035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4A4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Documents are increasingly standardised online; lawyers still review the final paper.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F1B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1B17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6350">
            <a:solidFill>
              <a:srgbClr val="3A33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spc="20000" kern="0" dirty="0">
                <a:solidFill>
                  <a:srgbClr val="A89B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  /  25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95528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b="1" spc="20000" kern="0" dirty="0">
                <a:solidFill>
                  <a:srgbClr val="A89B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FOUR — RISKS &amp; CONCLUSION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457200"/>
            <a:ext cx="11094415" cy="0"/>
          </a:xfrm>
          <a:prstGeom prst="line">
            <a:avLst/>
          </a:prstGeom>
          <a:noFill/>
          <a:ln w="6350">
            <a:solidFill>
              <a:srgbClr val="3A33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2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spc="25000" kern="0" dirty="0">
                <a:solidFill>
                  <a:srgbClr val="A89B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 STARTUP FUNDING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955280" y="182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spc="20000" kern="0" dirty="0">
                <a:solidFill>
                  <a:srgbClr val="A89B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A FOUNDER FIELD GUIDE / 2026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8640" y="137160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000" b="1" spc="-4000" kern="0" dirty="0">
                <a:solidFill>
                  <a:srgbClr val="F5DE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28000" dirty="0"/>
          </a:p>
        </p:txBody>
      </p:sp>
      <p:sp>
        <p:nvSpPr>
          <p:cNvPr id="10" name="Text 8"/>
          <p:cNvSpPr/>
          <p:nvPr/>
        </p:nvSpPr>
        <p:spPr>
          <a:xfrm>
            <a:off x="6583680" y="1554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spc="30000" kern="0" dirty="0">
                <a:solidFill>
                  <a:srgbClr val="F5DE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PART FOUR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583680" y="1920240"/>
            <a:ext cx="5303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00" b="1" spc="-2000" kern="0" dirty="0">
                <a:solidFill>
                  <a:srgbClr val="F6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Risks, Insights</a:t>
            </a:r>
            <a:endParaRPr lang="en-US" sz="5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600" b="1" spc="-2000" kern="0" dirty="0">
                <a:solidFill>
                  <a:srgbClr val="F6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&amp; Conclusion.</a:t>
            </a:r>
            <a:endParaRPr lang="en-US" sz="5600" dirty="0"/>
          </a:p>
        </p:txBody>
      </p:sp>
      <p:sp>
        <p:nvSpPr>
          <p:cNvPr id="12" name="Shape 10"/>
          <p:cNvSpPr/>
          <p:nvPr/>
        </p:nvSpPr>
        <p:spPr>
          <a:xfrm>
            <a:off x="6583680" y="4754880"/>
            <a:ext cx="1645920" cy="0"/>
          </a:xfrm>
          <a:prstGeom prst="line">
            <a:avLst/>
          </a:prstGeom>
          <a:noFill/>
          <a:ln w="19050">
            <a:solidFill>
              <a:srgbClr val="F5DE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493776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i="1" dirty="0">
                <a:solidFill>
                  <a:srgbClr val="D9CF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cost of flexibility — and the strategy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i="1" dirty="0">
                <a:solidFill>
                  <a:srgbClr val="D9CF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 founders should adopt.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094415" cy="0"/>
          </a:xfrm>
          <a:prstGeom prst="line">
            <a:avLst/>
          </a:prstGeom>
          <a:noFill/>
          <a:ln w="6350">
            <a:solidFill>
              <a:srgbClr val="D9CFB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spc="25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 STARTUP FUNDING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955280" y="182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spc="2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A FOUNDER FIELD GUIDE / 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6350">
            <a:solidFill>
              <a:srgbClr val="D9CF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spc="2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  /  25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95528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spc="2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MODERN.STARTUP.FUNDING — INDEX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777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spc="25000" kern="0" dirty="0">
                <a:solidFill>
                  <a:srgbClr val="C57B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04  ·  HIDDEN DILUTION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972800" y="777240"/>
            <a:ext cx="670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b="1" spc="2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§ 17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48640" y="10058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i="1" spc="1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of reckoning.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169164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00" b="1" spc="-2500" kern="0" dirty="0">
                <a:solidFill>
                  <a:srgbClr val="1F1B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Managing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548640" y="251460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00" i="1" spc="-2500" kern="0" dirty="0">
                <a:solidFill>
                  <a:srgbClr val="C57B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cap table.</a:t>
            </a:r>
            <a:endParaRPr lang="en-US" sz="56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0" y="1463040"/>
            <a:ext cx="3410712" cy="237744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48640" y="3931920"/>
            <a:ext cx="11091672" cy="0"/>
          </a:xfrm>
          <a:prstGeom prst="line">
            <a:avLst/>
          </a:prstGeom>
          <a:noFill/>
          <a:ln w="6350">
            <a:solidFill>
              <a:srgbClr val="D9CFB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48640" y="4005072"/>
            <a:ext cx="777240" cy="777240"/>
          </a:xfrm>
          <a:prstGeom prst="ellipse">
            <a:avLst/>
          </a:prstGeom>
          <a:solidFill>
            <a:srgbClr val="DED6E3"/>
          </a:solidFill>
          <a:ln/>
        </p:spPr>
      </p:sp>
      <p:sp>
        <p:nvSpPr>
          <p:cNvPr id="16" name="Shape 13"/>
          <p:cNvSpPr/>
          <p:nvPr/>
        </p:nvSpPr>
        <p:spPr>
          <a:xfrm>
            <a:off x="736092" y="4229100"/>
            <a:ext cx="402336" cy="91440"/>
          </a:xfrm>
          <a:prstGeom prst="rect">
            <a:avLst/>
          </a:prstGeom>
          <a:ln w="9525">
            <a:solidFill>
              <a:srgbClr val="4A423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36092" y="4347972"/>
            <a:ext cx="402336" cy="91440"/>
          </a:xfrm>
          <a:prstGeom prst="rect">
            <a:avLst/>
          </a:prstGeom>
          <a:ln w="9525">
            <a:solidFill>
              <a:srgbClr val="4A423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36092" y="4466844"/>
            <a:ext cx="402336" cy="91440"/>
          </a:xfrm>
          <a:prstGeom prst="rect">
            <a:avLst/>
          </a:prstGeom>
          <a:ln w="9525">
            <a:solidFill>
              <a:srgbClr val="4A423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508760" y="409651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i="1" spc="-1000" kern="0" dirty="0">
                <a:solidFill>
                  <a:srgbClr val="1F1B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Invisible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4114800" y="413308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4A4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 holders are not yet stockholders — they don’t appear on the active cap table.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663440"/>
            <a:ext cx="11091672" cy="0"/>
          </a:xfrm>
          <a:prstGeom prst="line">
            <a:avLst/>
          </a:prstGeom>
          <a:noFill/>
          <a:ln w="6350">
            <a:solidFill>
              <a:srgbClr val="D9CFB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48640" y="4736592"/>
            <a:ext cx="777240" cy="777240"/>
          </a:xfrm>
          <a:prstGeom prst="ellipse">
            <a:avLst/>
          </a:prstGeom>
          <a:solidFill>
            <a:srgbClr val="F5DECB"/>
          </a:solidFill>
          <a:ln/>
        </p:spPr>
      </p:sp>
      <p:sp>
        <p:nvSpPr>
          <p:cNvPr id="23" name="Shape 20"/>
          <p:cNvSpPr/>
          <p:nvPr/>
        </p:nvSpPr>
        <p:spPr>
          <a:xfrm>
            <a:off x="736092" y="4942332"/>
            <a:ext cx="402336" cy="365760"/>
          </a:xfrm>
          <a:prstGeom prst="triangle">
            <a:avLst/>
          </a:prstGeom>
          <a:ln w="15875">
            <a:solidFill>
              <a:srgbClr val="4A423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37260" y="5052060"/>
            <a:ext cx="0" cy="109728"/>
          </a:xfrm>
          <a:prstGeom prst="line">
            <a:avLst/>
          </a:prstGeom>
          <a:noFill/>
          <a:ln w="12700">
            <a:solidFill>
              <a:srgbClr val="4A423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18972" y="5198364"/>
            <a:ext cx="36576" cy="36576"/>
          </a:xfrm>
          <a:prstGeom prst="ellipse">
            <a:avLst/>
          </a:prstGeom>
          <a:solidFill>
            <a:srgbClr val="4A423B"/>
          </a:solidFill>
          <a:ln/>
        </p:spPr>
      </p:sp>
      <p:sp>
        <p:nvSpPr>
          <p:cNvPr id="26" name="Text 23"/>
          <p:cNvSpPr/>
          <p:nvPr/>
        </p:nvSpPr>
        <p:spPr>
          <a:xfrm>
            <a:off x="1508760" y="48280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i="1" spc="-1000" kern="0" dirty="0">
                <a:solidFill>
                  <a:srgbClr val="1F1B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4114800" y="486460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4A4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Many small SAFEs without tracking → massive unexpected dilution when they all convert at once.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548640" y="5394960"/>
            <a:ext cx="11091672" cy="0"/>
          </a:xfrm>
          <a:prstGeom prst="line">
            <a:avLst/>
          </a:prstGeom>
          <a:noFill/>
          <a:ln w="6350">
            <a:solidFill>
              <a:srgbClr val="D9CFBE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48640" y="5468112"/>
            <a:ext cx="777240" cy="777240"/>
          </a:xfrm>
          <a:prstGeom prst="ellipse">
            <a:avLst/>
          </a:prstGeom>
          <a:solidFill>
            <a:srgbClr val="D3DCCC"/>
          </a:solidFill>
          <a:ln/>
        </p:spPr>
      </p:sp>
      <p:sp>
        <p:nvSpPr>
          <p:cNvPr id="30" name="Shape 27"/>
          <p:cNvSpPr/>
          <p:nvPr/>
        </p:nvSpPr>
        <p:spPr>
          <a:xfrm>
            <a:off x="790956" y="5856732"/>
            <a:ext cx="109728" cy="128016"/>
          </a:xfrm>
          <a:prstGeom prst="line">
            <a:avLst/>
          </a:prstGeom>
          <a:noFill/>
          <a:ln w="19050">
            <a:solidFill>
              <a:srgbClr val="4A423B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00684" y="5984748"/>
            <a:ext cx="201168" cy="-237744"/>
          </a:xfrm>
          <a:prstGeom prst="line">
            <a:avLst/>
          </a:prstGeom>
          <a:noFill/>
          <a:ln w="19050">
            <a:solidFill>
              <a:srgbClr val="4A423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508760" y="55595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i="1" spc="-1000" kern="0" dirty="0">
                <a:solidFill>
                  <a:srgbClr val="1F1B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Solution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4114800" y="559612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4A4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cap-table modeling tools. Run the math early. Track potential future dilution actively.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548640" y="6126480"/>
            <a:ext cx="11091672" cy="0"/>
          </a:xfrm>
          <a:prstGeom prst="line">
            <a:avLst/>
          </a:prstGeom>
          <a:noFill/>
          <a:ln w="6350">
            <a:solidFill>
              <a:srgbClr val="D9CFBE"/>
            </a:solidFill>
            <a:prstDash val="solid"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094415" cy="0"/>
          </a:xfrm>
          <a:prstGeom prst="line">
            <a:avLst/>
          </a:prstGeom>
          <a:noFill/>
          <a:ln w="6350">
            <a:solidFill>
              <a:srgbClr val="D9CFB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spc="25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 STARTUP FUNDING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955280" y="182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spc="2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A FOUNDER FIELD GUIDE / 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6350">
            <a:solidFill>
              <a:srgbClr val="D9CF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spc="2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  /  25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95528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spc="2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MODERN.STARTUP.FUNDING — INDEX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777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spc="25000" kern="0" dirty="0">
                <a:solidFill>
                  <a:srgbClr val="C57B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04  ·  ADMIN &amp; STRATEGY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972800" y="777240"/>
            <a:ext cx="670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b="1" spc="2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§ 18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48640" y="137160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spc="-2000" kern="0" dirty="0">
                <a:solidFill>
                  <a:srgbClr val="1F1B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Party rounds &amp;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548640" y="214884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i="1" spc="-2000" kern="0" dirty="0">
                <a:solidFill>
                  <a:srgbClr val="C57B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small-check trade-off.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5577840" cy="2926080"/>
          </a:xfrm>
          <a:prstGeom prst="roundRect">
            <a:avLst>
              <a:gd name="adj" fmla="val 2500"/>
            </a:avLst>
          </a:prstGeom>
          <a:solidFill>
            <a:srgbClr val="EFE7D8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3474720"/>
            <a:ext cx="777240" cy="777240"/>
          </a:xfrm>
          <a:prstGeom prst="ellipse">
            <a:avLst/>
          </a:prstGeom>
          <a:solidFill>
            <a:srgbClr val="F5DECB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0140" y="3698748"/>
            <a:ext cx="91440" cy="91440"/>
          </a:xfrm>
          <a:prstGeom prst="ellipse">
            <a:avLst/>
          </a:prstGeom>
          <a:solidFill>
            <a:srgbClr val="4A423B"/>
          </a:solidFill>
          <a:ln/>
        </p:spPr>
      </p:sp>
      <p:sp>
        <p:nvSpPr>
          <p:cNvPr id="15" name="Shape 13"/>
          <p:cNvSpPr/>
          <p:nvPr/>
        </p:nvSpPr>
        <p:spPr>
          <a:xfrm>
            <a:off x="1394460" y="3698748"/>
            <a:ext cx="91440" cy="91440"/>
          </a:xfrm>
          <a:prstGeom prst="ellipse">
            <a:avLst/>
          </a:prstGeom>
          <a:solidFill>
            <a:srgbClr val="4A423B"/>
          </a:solidFill>
          <a:ln/>
        </p:spPr>
      </p:sp>
      <p:sp>
        <p:nvSpPr>
          <p:cNvPr id="16" name="Shape 14"/>
          <p:cNvSpPr/>
          <p:nvPr/>
        </p:nvSpPr>
        <p:spPr>
          <a:xfrm>
            <a:off x="1257300" y="3936492"/>
            <a:ext cx="91440" cy="91440"/>
          </a:xfrm>
          <a:prstGeom prst="ellipse">
            <a:avLst/>
          </a:prstGeom>
          <a:solidFill>
            <a:srgbClr val="4A423B"/>
          </a:solidFill>
          <a:ln/>
        </p:spPr>
      </p:sp>
      <p:sp>
        <p:nvSpPr>
          <p:cNvPr id="17" name="Shape 15"/>
          <p:cNvSpPr/>
          <p:nvPr/>
        </p:nvSpPr>
        <p:spPr>
          <a:xfrm>
            <a:off x="1165860" y="3744468"/>
            <a:ext cx="182880" cy="0"/>
          </a:xfrm>
          <a:prstGeom prst="line">
            <a:avLst/>
          </a:prstGeom>
          <a:noFill/>
          <a:ln w="6350">
            <a:solidFill>
              <a:srgbClr val="4A42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65860" y="3744468"/>
            <a:ext cx="91440" cy="192024"/>
          </a:xfrm>
          <a:prstGeom prst="line">
            <a:avLst/>
          </a:prstGeom>
          <a:noFill/>
          <a:ln w="6350">
            <a:solidFill>
              <a:srgbClr val="4A42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94460" y="3744468"/>
            <a:ext cx="-91440" cy="192024"/>
          </a:xfrm>
          <a:prstGeom prst="line">
            <a:avLst/>
          </a:prstGeom>
          <a:noFill/>
          <a:ln w="6350">
            <a:solidFill>
              <a:srgbClr val="4A42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74520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spc="3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PARTY ROUNDS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14400" y="443484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b="1" i="1" spc="-1000" kern="0" dirty="0">
                <a:solidFill>
                  <a:srgbClr val="1F1B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Many small checks,</a:t>
            </a:r>
            <a:endParaRPr lang="en-US" sz="2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800" b="1" i="1" spc="-1000" kern="0" dirty="0">
                <a:solidFill>
                  <a:srgbClr val="1F1B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many signatures.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914400" y="5532120"/>
            <a:ext cx="1097280" cy="0"/>
          </a:xfrm>
          <a:prstGeom prst="line">
            <a:avLst/>
          </a:prstGeom>
          <a:noFill/>
          <a:ln w="12700">
            <a:solidFill>
              <a:srgbClr val="C57B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565099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4A4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Raising from dozens of angels later creates a heavy administrative burden when chasing stockholder consents and signatures.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91072" y="3246120"/>
            <a:ext cx="5577840" cy="2926080"/>
          </a:xfrm>
          <a:prstGeom prst="roundRect">
            <a:avLst>
              <a:gd name="adj" fmla="val 2500"/>
            </a:avLst>
          </a:prstGeom>
          <a:solidFill>
            <a:srgbClr val="EFE7D8"/>
          </a:solidFill>
          <a:ln/>
        </p:spPr>
      </p:sp>
      <p:sp>
        <p:nvSpPr>
          <p:cNvPr id="25" name="Shape 23"/>
          <p:cNvSpPr/>
          <p:nvPr/>
        </p:nvSpPr>
        <p:spPr>
          <a:xfrm>
            <a:off x="6656832" y="3474720"/>
            <a:ext cx="777240" cy="777240"/>
          </a:xfrm>
          <a:prstGeom prst="ellipse">
            <a:avLst/>
          </a:prstGeom>
          <a:solidFill>
            <a:srgbClr val="DED6E3"/>
          </a:solidFill>
          <a:ln/>
        </p:spPr>
      </p:sp>
      <p:sp>
        <p:nvSpPr>
          <p:cNvPr id="26" name="Shape 24"/>
          <p:cNvSpPr/>
          <p:nvPr/>
        </p:nvSpPr>
        <p:spPr>
          <a:xfrm>
            <a:off x="6844284" y="3680460"/>
            <a:ext cx="402336" cy="365760"/>
          </a:xfrm>
          <a:prstGeom prst="triangle">
            <a:avLst/>
          </a:prstGeom>
          <a:ln w="15875">
            <a:solidFill>
              <a:srgbClr val="4A423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045452" y="3790188"/>
            <a:ext cx="0" cy="109728"/>
          </a:xfrm>
          <a:prstGeom prst="line">
            <a:avLst/>
          </a:prstGeom>
          <a:noFill/>
          <a:ln w="12700">
            <a:solidFill>
              <a:srgbClr val="4A423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027164" y="3936492"/>
            <a:ext cx="36576" cy="36576"/>
          </a:xfrm>
          <a:prstGeom prst="ellipse">
            <a:avLst/>
          </a:prstGeom>
          <a:solidFill>
            <a:srgbClr val="4A423B"/>
          </a:solidFill>
          <a:ln/>
        </p:spPr>
      </p:sp>
      <p:sp>
        <p:nvSpPr>
          <p:cNvPr id="29" name="Text 27"/>
          <p:cNvSpPr/>
          <p:nvPr/>
        </p:nvSpPr>
        <p:spPr>
          <a:xfrm>
            <a:off x="7616952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spc="3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ATTENTION SPAN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656832" y="443484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b="1" i="1" spc="-1000" kern="0" dirty="0">
                <a:solidFill>
                  <a:srgbClr val="1F1B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double-edged</a:t>
            </a:r>
            <a:endParaRPr lang="en-US" sz="2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800" b="1" i="1" spc="-1000" kern="0" dirty="0">
                <a:solidFill>
                  <a:srgbClr val="1F1B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sword.</a:t>
            </a:r>
            <a:endParaRPr lang="en-US" sz="2800" dirty="0"/>
          </a:p>
        </p:txBody>
      </p:sp>
      <p:sp>
        <p:nvSpPr>
          <p:cNvPr id="31" name="Shape 29"/>
          <p:cNvSpPr/>
          <p:nvPr/>
        </p:nvSpPr>
        <p:spPr>
          <a:xfrm>
            <a:off x="6656832" y="5532120"/>
            <a:ext cx="1097280" cy="0"/>
          </a:xfrm>
          <a:prstGeom prst="line">
            <a:avLst/>
          </a:prstGeom>
          <a:noFill/>
          <a:ln w="12700">
            <a:solidFill>
              <a:srgbClr val="C57B5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56832" y="565099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4A4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Smaller checks → investors aren’t stockholders yet. They may pay less attention to you — but they’re also less likely to drive you insane.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094415" cy="0"/>
          </a:xfrm>
          <a:prstGeom prst="line">
            <a:avLst/>
          </a:prstGeom>
          <a:noFill/>
          <a:ln w="6350">
            <a:solidFill>
              <a:srgbClr val="D9CFB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spc="25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 STARTUP FUNDING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955280" y="182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spc="2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A FOUNDER FIELD GUIDE / 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6350">
            <a:solidFill>
              <a:srgbClr val="D9CF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spc="2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  /  25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95528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spc="2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MODERN.STARTUP.FUNDING — INDEX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777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spc="25000" kern="0" dirty="0">
                <a:solidFill>
                  <a:srgbClr val="C57B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04  ·  Q&amp;A INSIGHTS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972800" y="777240"/>
            <a:ext cx="670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b="1" spc="20000" kern="0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§ 19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48640" y="128016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0" b="1" i="1" spc="-4000" kern="0" dirty="0">
                <a:solidFill>
                  <a:srgbClr val="1F1B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Q&amp;A</a:t>
            </a:r>
            <a:endParaRPr lang="en-US" sz="12000" dirty="0"/>
          </a:p>
        </p:txBody>
      </p:sp>
      <p:sp>
        <p:nvSpPr>
          <p:cNvPr id="11" name="Text 9"/>
          <p:cNvSpPr/>
          <p:nvPr/>
        </p:nvSpPr>
        <p:spPr>
          <a:xfrm>
            <a:off x="4297680" y="1508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spc="-1500" kern="0" dirty="0">
                <a:solidFill>
                  <a:srgbClr val="1F1B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Navigating market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297680" y="2011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i="1" spc="-1500" kern="0" dirty="0">
                <a:solidFill>
                  <a:srgbClr val="C57B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exceptions &amp; edge cases.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11091672" cy="0"/>
          </a:xfrm>
          <a:prstGeom prst="line">
            <a:avLst/>
          </a:prstGeom>
          <a:noFill/>
          <a:ln w="6350">
            <a:solidFill>
              <a:srgbClr val="D9CF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i="1" dirty="0">
                <a:solidFill>
                  <a:srgbClr val="C57B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3410712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1F1B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VC offers $5M on day one as a priced round with reasonable terms — what now?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749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i="1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3776472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00" i="1" dirty="0">
                <a:solidFill>
                  <a:srgbClr val="4A4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Take it. Don’t insist on a SAFE.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233672"/>
            <a:ext cx="11091672" cy="0"/>
          </a:xfrm>
          <a:prstGeom prst="line">
            <a:avLst/>
          </a:prstGeom>
          <a:noFill/>
          <a:ln w="6350">
            <a:solidFill>
              <a:srgbClr val="D9CFB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370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i="1" dirty="0">
                <a:solidFill>
                  <a:srgbClr val="C57B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4398264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1F1B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if the company never raises a priced round, sells, or goes public?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4736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i="1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4764024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00" i="1" dirty="0">
                <a:solidFill>
                  <a:srgbClr val="4A4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SAFE doesn’t convert. Investors accept that gamble — an auto-conversion term can be attached if needed.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5221224"/>
            <a:ext cx="11091672" cy="0"/>
          </a:xfrm>
          <a:prstGeom prst="line">
            <a:avLst/>
          </a:prstGeom>
          <a:noFill/>
          <a:ln w="6350">
            <a:solidFill>
              <a:srgbClr val="D9CFB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5358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i="1" dirty="0">
                <a:solidFill>
                  <a:srgbClr val="C57B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05840" y="5385816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1F1B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a SAFE compensate consultants or favors?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5724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i="1" dirty="0">
                <a:solidFill>
                  <a:srgbClr val="8A7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05840" y="5751576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00" i="1" dirty="0">
                <a:solidFill>
                  <a:srgbClr val="4A4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No. The SAFE is strictly for upfront cash in exchange for future equity.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6208776"/>
            <a:ext cx="11091672" cy="0"/>
          </a:xfrm>
          <a:prstGeom prst="line">
            <a:avLst/>
          </a:prstGeom>
          <a:noFill/>
          <a:ln w="6350">
            <a:solidFill>
              <a:srgbClr val="D9CFBE"/>
            </a:solidFill>
            <a:prstDash val="solid"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50292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spc="30000" kern="0" dirty="0">
                <a:solidFill>
                  <a:srgbClr val="EAC9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§ 20  ·  CONCLUSION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777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spc="30000" kern="0" dirty="0">
                <a:solidFill>
                  <a:srgbClr val="D9CF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THE FIELD GUIDE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457200" y="25603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spc="-2000" kern="0" dirty="0">
                <a:solidFill>
                  <a:srgbClr val="F6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strategy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457200" y="333756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spc="-2000" kern="0" dirty="0">
                <a:solidFill>
                  <a:srgbClr val="F6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modern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457200" y="41148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i="1" spc="-2000" kern="0" dirty="0">
                <a:solidFill>
                  <a:srgbClr val="EAC9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founders.</a:t>
            </a:r>
            <a:endParaRPr lang="en-US" sz="4400" dirty="0"/>
          </a:p>
        </p:txBody>
      </p:sp>
      <p:sp>
        <p:nvSpPr>
          <p:cNvPr id="9" name="Shape 6"/>
          <p:cNvSpPr/>
          <p:nvPr/>
        </p:nvSpPr>
        <p:spPr>
          <a:xfrm>
            <a:off x="457200" y="5212080"/>
            <a:ext cx="1188720" cy="0"/>
          </a:xfrm>
          <a:prstGeom prst="line">
            <a:avLst/>
          </a:prstGeom>
          <a:noFill/>
          <a:ln w="19050">
            <a:solidFill>
              <a:srgbClr val="EAC9B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spc="25000" kern="0" dirty="0">
                <a:solidFill>
                  <a:srgbClr val="D9CF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 / 25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394960" y="640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spc="20000" kern="0" dirty="0">
                <a:solidFill>
                  <a:srgbClr val="C57B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035040" y="5943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i="1" spc="-1000" kern="0" dirty="0">
                <a:solidFill>
                  <a:srgbClr val="1F1B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convertibles.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6035040" y="1051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4A4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Approach early-stage fundraising with SAFEs to optimise speed and flexibility.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394960" y="1737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spc="20000" kern="0" dirty="0">
                <a:solidFill>
                  <a:srgbClr val="C57B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035040" y="169164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i="1" spc="-1000" kern="0" dirty="0">
                <a:solidFill>
                  <a:srgbClr val="1F1B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dilution.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6035040" y="21488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4A4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Maintain absolute discipline in modeling potential equity dilution.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394960" y="2834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spc="20000" kern="0" dirty="0">
                <a:solidFill>
                  <a:srgbClr val="C57B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035040" y="278892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i="1" spc="-1000" kern="0" dirty="0">
                <a:solidFill>
                  <a:srgbClr val="1F1B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the room.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6035040" y="32461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4A4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Outside Silicon Valley, educate local investors less familiar with modern convertibles.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394960" y="4160520"/>
            <a:ext cx="6263640" cy="2057400"/>
          </a:xfrm>
          <a:prstGeom prst="roundRect">
            <a:avLst>
              <a:gd name="adj" fmla="val 3556"/>
            </a:avLst>
          </a:prstGeom>
          <a:solidFill>
            <a:srgbClr val="1F1B17"/>
          </a:solidFill>
          <a:ln/>
        </p:spPr>
      </p:sp>
      <p:sp>
        <p:nvSpPr>
          <p:cNvPr id="21" name="Text 18"/>
          <p:cNvSpPr/>
          <p:nvPr/>
        </p:nvSpPr>
        <p:spPr>
          <a:xfrm>
            <a:off x="5577840" y="416052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8000" b="1" dirty="0">
                <a:solidFill>
                  <a:srgbClr val="EAC9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</a:t>
            </a:r>
            <a:endParaRPr lang="en-US" sz="8000" dirty="0"/>
          </a:p>
        </p:txBody>
      </p:sp>
      <p:sp>
        <p:nvSpPr>
          <p:cNvPr id="22" name="Text 19"/>
          <p:cNvSpPr/>
          <p:nvPr/>
        </p:nvSpPr>
        <p:spPr>
          <a:xfrm>
            <a:off x="6355080" y="443484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i="1" dirty="0">
                <a:solidFill>
                  <a:srgbClr val="F6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goal of fundraising efficiency is focus — getting money in the bank fast so you can go back to building your company.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355080" y="5806440"/>
            <a:ext cx="411480" cy="0"/>
          </a:xfrm>
          <a:prstGeom prst="line">
            <a:avLst/>
          </a:prstGeom>
          <a:noFill/>
          <a:ln w="15240">
            <a:solidFill>
              <a:srgbClr val="EAC9B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355080" y="5897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spc="30000" kern="0" dirty="0">
                <a:solidFill>
                  <a:srgbClr val="D9CF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SHARED MAXIM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2026-05-24T00:46:39Z</dcterms:created>
  <dcterms:modified xsi:type="dcterms:W3CDTF">2026-05-24T00:46:39Z</dcterms:modified>
</cp:coreProperties>
</file>